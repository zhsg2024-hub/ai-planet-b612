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1828800"/>
            <a:ext cx="7315200" cy="7315200"/>
          </a:xfrm>
          <a:prstGeom prst="ellipse">
            <a:avLst/>
          </a:prstGeom>
          <a:solidFill>
            <a:srgbClr val="7C3AED"/>
            <a:alpha val="1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7315200" cy="6400800"/>
          </a:xfrm>
          <a:prstGeom prst="ellipse">
            <a:avLst/>
          </a:prstGeom>
          <a:solidFill>
            <a:srgbClr val="00D4FF"/>
            <a:alpha val="1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38127" y="5811700"/>
            <a:ext cx="25275" cy="25275"/>
          </a:xfrm>
          <a:prstGeom prst="ellipse">
            <a:avLst/>
          </a:prstGeom>
          <a:solidFill>
            <a:srgbClr val="00D4FF"/>
            <a:alpha val="29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0057" y="4468624"/>
            <a:ext cx="25774" cy="25774"/>
          </a:xfrm>
          <a:prstGeom prst="ellipse">
            <a:avLst/>
          </a:prstGeom>
          <a:solidFill>
            <a:srgbClr val="00D4FF"/>
            <a:alpha val="11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89393" y="2967916"/>
            <a:ext cx="25245" cy="25245"/>
          </a:xfrm>
          <a:prstGeom prst="ellipse">
            <a:avLst/>
          </a:prstGeom>
          <a:solidFill>
            <a:srgbClr val="00D4FF"/>
            <a:alpha val="27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96796" y="1568851"/>
            <a:ext cx="28905" cy="28905"/>
          </a:xfrm>
          <a:prstGeom prst="ellipse">
            <a:avLst/>
          </a:prstGeom>
          <a:solidFill>
            <a:srgbClr val="FFFFFF"/>
            <a:alpha val="1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10228" y="3713006"/>
            <a:ext cx="28782" cy="28782"/>
          </a:xfrm>
          <a:prstGeom prst="ellipse">
            <a:avLst/>
          </a:prstGeom>
          <a:solidFill>
            <a:srgbClr val="00D4FF"/>
            <a:alpha val="18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46316" y="199161"/>
            <a:ext cx="14433" cy="14433"/>
          </a:xfrm>
          <a:prstGeom prst="ellipse">
            <a:avLst/>
          </a:prstGeom>
          <a:solidFill>
            <a:srgbClr val="FFFFFF"/>
            <a:alpha val="29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1694" y="1583282"/>
            <a:ext cx="14375" cy="14375"/>
          </a:xfrm>
          <a:prstGeom prst="ellipse">
            <a:avLst/>
          </a:prstGeom>
          <a:solidFill>
            <a:srgbClr val="FFFFFF"/>
            <a:alpha val="21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1995" y="5744109"/>
            <a:ext cx="21129" cy="21129"/>
          </a:xfrm>
          <a:prstGeom prst="ellipse">
            <a:avLst/>
          </a:prstGeom>
          <a:solidFill>
            <a:srgbClr val="FFFFFF"/>
            <a:alpha val="1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00786" y="5897513"/>
            <a:ext cx="12417" cy="12417"/>
          </a:xfrm>
          <a:prstGeom prst="ellipse">
            <a:avLst/>
          </a:prstGeom>
          <a:solidFill>
            <a:srgbClr val="00D4FF"/>
            <a:alpha val="38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70633" y="6422109"/>
            <a:ext cx="18442" cy="18442"/>
          </a:xfrm>
          <a:prstGeom prst="ellipse">
            <a:avLst/>
          </a:prstGeom>
          <a:solidFill>
            <a:srgbClr val="FFFFFF"/>
            <a:alpha val="36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98576" y="4029627"/>
            <a:ext cx="27649" cy="27649"/>
          </a:xfrm>
          <a:prstGeom prst="ellipse">
            <a:avLst/>
          </a:prstGeom>
          <a:solidFill>
            <a:srgbClr val="FFFFFF"/>
            <a:alpha val="30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80935" y="236778"/>
            <a:ext cx="14854" cy="14854"/>
          </a:xfrm>
          <a:prstGeom prst="ellipse">
            <a:avLst/>
          </a:prstGeom>
          <a:solidFill>
            <a:srgbClr val="FFFFFF"/>
            <a:alpha val="26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09253" y="3763661"/>
            <a:ext cx="24060" cy="24060"/>
          </a:xfrm>
          <a:prstGeom prst="ellipse">
            <a:avLst/>
          </a:prstGeom>
          <a:solidFill>
            <a:srgbClr val="FFFFFF"/>
            <a:alpha val="249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51686" y="3486788"/>
            <a:ext cx="25568" cy="25568"/>
          </a:xfrm>
          <a:prstGeom prst="ellipse">
            <a:avLst/>
          </a:prstGeom>
          <a:solidFill>
            <a:srgbClr val="FFFFFF"/>
            <a:alpha val="25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70194" y="202825"/>
            <a:ext cx="10869" cy="10869"/>
          </a:xfrm>
          <a:prstGeom prst="ellipse">
            <a:avLst/>
          </a:prstGeom>
          <a:solidFill>
            <a:srgbClr val="FFFFFF"/>
            <a:alpha val="49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31915" y="2699306"/>
            <a:ext cx="13406" cy="13406"/>
          </a:xfrm>
          <a:prstGeom prst="ellipse">
            <a:avLst/>
          </a:prstGeom>
          <a:solidFill>
            <a:srgbClr val="FFFFFF"/>
            <a:alpha val="49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93983" y="3700696"/>
            <a:ext cx="27205" cy="27205"/>
          </a:xfrm>
          <a:prstGeom prst="ellipse">
            <a:avLst/>
          </a:prstGeom>
          <a:solidFill>
            <a:srgbClr val="00D4FF"/>
            <a:alpha val="30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612191" y="3962516"/>
            <a:ext cx="19182" cy="19182"/>
          </a:xfrm>
          <a:prstGeom prst="ellipse">
            <a:avLst/>
          </a:prstGeom>
          <a:solidFill>
            <a:srgbClr val="00D4FF"/>
            <a:alpha val="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68869" y="39153"/>
            <a:ext cx="25673" cy="25673"/>
          </a:xfrm>
          <a:prstGeom prst="ellipse">
            <a:avLst/>
          </a:prstGeom>
          <a:solidFill>
            <a:srgbClr val="FFFFFF"/>
            <a:alpha val="45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27991" y="5549081"/>
            <a:ext cx="20373" cy="20373"/>
          </a:xfrm>
          <a:prstGeom prst="ellipse">
            <a:avLst/>
          </a:prstGeom>
          <a:solidFill>
            <a:srgbClr val="FFFFFF"/>
            <a:alpha val="2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4238" y="5966529"/>
            <a:ext cx="21399" cy="21399"/>
          </a:xfrm>
          <a:prstGeom prst="ellipse">
            <a:avLst/>
          </a:prstGeom>
          <a:solidFill>
            <a:srgbClr val="00D4FF"/>
            <a:alpha val="30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12059" y="2446865"/>
            <a:ext cx="16921" cy="16921"/>
          </a:xfrm>
          <a:prstGeom prst="ellipse">
            <a:avLst/>
          </a:prstGeom>
          <a:solidFill>
            <a:srgbClr val="FFFFFF"/>
            <a:alpha val="34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66833" y="3141970"/>
            <a:ext cx="10559" cy="10559"/>
          </a:xfrm>
          <a:prstGeom prst="ellipse">
            <a:avLst/>
          </a:prstGeom>
          <a:solidFill>
            <a:srgbClr val="00D4FF"/>
            <a:alpha val="17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25568" y="5904798"/>
            <a:ext cx="25968" cy="25968"/>
          </a:xfrm>
          <a:prstGeom prst="ellipse">
            <a:avLst/>
          </a:prstGeom>
          <a:solidFill>
            <a:srgbClr val="FFFFFF"/>
            <a:alpha val="42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112467" y="5772686"/>
            <a:ext cx="23462" cy="23462"/>
          </a:xfrm>
          <a:prstGeom prst="ellipse">
            <a:avLst/>
          </a:prstGeom>
          <a:solidFill>
            <a:srgbClr val="00D4FF"/>
            <a:alpha val="10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77510" y="5181814"/>
            <a:ext cx="14991" cy="14991"/>
          </a:xfrm>
          <a:prstGeom prst="ellipse">
            <a:avLst/>
          </a:prstGeom>
          <a:solidFill>
            <a:srgbClr val="00D4FF"/>
            <a:alpha val="3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99098" y="476736"/>
            <a:ext cx="13192" cy="13192"/>
          </a:xfrm>
          <a:prstGeom prst="ellipse">
            <a:avLst/>
          </a:prstGeom>
          <a:solidFill>
            <a:srgbClr val="FFFFFF"/>
            <a:alpha val="16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327289" y="4880083"/>
            <a:ext cx="19094" cy="19094"/>
          </a:xfrm>
          <a:prstGeom prst="ellipse">
            <a:avLst/>
          </a:prstGeom>
          <a:solidFill>
            <a:srgbClr val="00D4FF"/>
            <a:alpha val="28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8145" y="2651008"/>
            <a:ext cx="18418" cy="18418"/>
          </a:xfrm>
          <a:prstGeom prst="ellipse">
            <a:avLst/>
          </a:prstGeom>
          <a:solidFill>
            <a:srgbClr val="00D4FF"/>
            <a:alpha val="1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70312" y="3498375"/>
            <a:ext cx="14181" cy="14181"/>
          </a:xfrm>
          <a:prstGeom prst="ellipse">
            <a:avLst/>
          </a:prstGeom>
          <a:solidFill>
            <a:srgbClr val="FFFFFF"/>
            <a:alpha val="42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3808" y="122514"/>
            <a:ext cx="12929" cy="12929"/>
          </a:xfrm>
          <a:prstGeom prst="ellipse">
            <a:avLst/>
          </a:prstGeom>
          <a:solidFill>
            <a:srgbClr val="FFFFFF"/>
            <a:alpha val="16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0336" y="4650929"/>
            <a:ext cx="20894" cy="20894"/>
          </a:xfrm>
          <a:prstGeom prst="ellipse">
            <a:avLst/>
          </a:prstGeom>
          <a:solidFill>
            <a:srgbClr val="00D4FF"/>
            <a:alpha val="49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26666" y="3542839"/>
            <a:ext cx="14463" cy="14463"/>
          </a:xfrm>
          <a:prstGeom prst="ellipse">
            <a:avLst/>
          </a:prstGeom>
          <a:solidFill>
            <a:srgbClr val="FFFFFF"/>
            <a:alpha val="25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20538" y="2203103"/>
            <a:ext cx="22618" cy="22618"/>
          </a:xfrm>
          <a:prstGeom prst="ellipse">
            <a:avLst/>
          </a:prstGeom>
          <a:solidFill>
            <a:srgbClr val="00D4FF"/>
            <a:alpha val="21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800381" y="6004413"/>
            <a:ext cx="16127" cy="16127"/>
          </a:xfrm>
          <a:prstGeom prst="ellipse">
            <a:avLst/>
          </a:prstGeom>
          <a:solidFill>
            <a:srgbClr val="FFFFFF"/>
            <a:alpha val="2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51518" y="5101269"/>
            <a:ext cx="18323" cy="18323"/>
          </a:xfrm>
          <a:prstGeom prst="ellipse">
            <a:avLst/>
          </a:prstGeom>
          <a:solidFill>
            <a:srgbClr val="00D4FF"/>
            <a:alpha val="10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713060" y="260031"/>
            <a:ext cx="26388" cy="26388"/>
          </a:xfrm>
          <a:prstGeom prst="ellipse">
            <a:avLst/>
          </a:prstGeom>
          <a:solidFill>
            <a:srgbClr val="FFFFFF"/>
            <a:alpha val="32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091084" y="5951242"/>
            <a:ext cx="29475" cy="29475"/>
          </a:xfrm>
          <a:prstGeom prst="ellipse">
            <a:avLst/>
          </a:prstGeom>
          <a:solidFill>
            <a:srgbClr val="FFFFFF"/>
            <a:alpha val="30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608080" y="2379252"/>
            <a:ext cx="14115" cy="14115"/>
          </a:xfrm>
          <a:prstGeom prst="ellipse">
            <a:avLst/>
          </a:prstGeom>
          <a:solidFill>
            <a:srgbClr val="FFFFFF"/>
            <a:alpha val="27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366635" y="716141"/>
            <a:ext cx="23319" cy="23319"/>
          </a:xfrm>
          <a:prstGeom prst="ellipse">
            <a:avLst/>
          </a:prstGeom>
          <a:solidFill>
            <a:srgbClr val="00D4FF"/>
            <a:alpha val="2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966514" y="5977580"/>
            <a:ext cx="27993" cy="27993"/>
          </a:xfrm>
          <a:prstGeom prst="ellipse">
            <a:avLst/>
          </a:prstGeom>
          <a:solidFill>
            <a:srgbClr val="00D4FF"/>
            <a:alpha val="1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995714" y="6769186"/>
            <a:ext cx="25654" cy="25654"/>
          </a:xfrm>
          <a:prstGeom prst="ellipse">
            <a:avLst/>
          </a:prstGeom>
          <a:solidFill>
            <a:srgbClr val="00D4FF"/>
            <a:alpha val="18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222750" y="5744953"/>
            <a:ext cx="28643" cy="28643"/>
          </a:xfrm>
          <a:prstGeom prst="ellipse">
            <a:avLst/>
          </a:prstGeom>
          <a:solidFill>
            <a:srgbClr val="00D4FF"/>
            <a:alpha val="4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377037" y="3322692"/>
            <a:ext cx="29710" cy="29710"/>
          </a:xfrm>
          <a:prstGeom prst="ellipse">
            <a:avLst/>
          </a:prstGeom>
          <a:solidFill>
            <a:srgbClr val="00D4FF"/>
            <a:alpha val="39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2395" y="1163762"/>
            <a:ext cx="28219" cy="28219"/>
          </a:xfrm>
          <a:prstGeom prst="ellipse">
            <a:avLst/>
          </a:prstGeom>
          <a:solidFill>
            <a:srgbClr val="00D4FF"/>
            <a:alpha val="40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317562" y="5768484"/>
            <a:ext cx="17362" cy="17362"/>
          </a:xfrm>
          <a:prstGeom prst="ellipse">
            <a:avLst/>
          </a:prstGeom>
          <a:solidFill>
            <a:srgbClr val="00D4FF"/>
            <a:alpha val="21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575317" y="4142112"/>
            <a:ext cx="29086" cy="29086"/>
          </a:xfrm>
          <a:prstGeom prst="ellipse">
            <a:avLst/>
          </a:prstGeom>
          <a:solidFill>
            <a:srgbClr val="FFFFFF"/>
            <a:alpha val="15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19702" y="715117"/>
            <a:ext cx="10782" cy="10782"/>
          </a:xfrm>
          <a:prstGeom prst="ellipse">
            <a:avLst/>
          </a:prstGeom>
          <a:solidFill>
            <a:srgbClr val="00D4FF"/>
            <a:alpha val="4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608475" y="5681893"/>
            <a:ext cx="16817" cy="16817"/>
          </a:xfrm>
          <a:prstGeom prst="ellipse">
            <a:avLst/>
          </a:prstGeom>
          <a:solidFill>
            <a:srgbClr val="FFFFFF"/>
            <a:alpha val="41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608943" y="3914419"/>
            <a:ext cx="14474" cy="14474"/>
          </a:xfrm>
          <a:prstGeom prst="ellipse">
            <a:avLst/>
          </a:prstGeom>
          <a:solidFill>
            <a:srgbClr val="00D4FF"/>
            <a:alpha val="20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859973" y="3870976"/>
            <a:ext cx="28501" cy="28501"/>
          </a:xfrm>
          <a:prstGeom prst="ellipse">
            <a:avLst/>
          </a:prstGeom>
          <a:solidFill>
            <a:srgbClr val="FFFFFF"/>
            <a:alpha val="21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95042" y="5676834"/>
            <a:ext cx="10247" cy="10247"/>
          </a:xfrm>
          <a:prstGeom prst="ellipse">
            <a:avLst/>
          </a:prstGeom>
          <a:solidFill>
            <a:srgbClr val="FFFFFF"/>
            <a:alpha val="13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403294" y="6069741"/>
            <a:ext cx="10800" cy="10800"/>
          </a:xfrm>
          <a:prstGeom prst="ellipse">
            <a:avLst/>
          </a:prstGeom>
          <a:solidFill>
            <a:srgbClr val="00D4FF"/>
            <a:alpha val="49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132869" y="792498"/>
            <a:ext cx="13347" cy="13347"/>
          </a:xfrm>
          <a:prstGeom prst="ellipse">
            <a:avLst/>
          </a:prstGeom>
          <a:solidFill>
            <a:srgbClr val="00D4FF"/>
            <a:alpha val="3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53722" y="6246022"/>
            <a:ext cx="17565" cy="17565"/>
          </a:xfrm>
          <a:prstGeom prst="ellipse">
            <a:avLst/>
          </a:prstGeom>
          <a:solidFill>
            <a:srgbClr val="FFFFFF"/>
            <a:alpha val="4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84645" y="1737886"/>
            <a:ext cx="19540" cy="19540"/>
          </a:xfrm>
          <a:prstGeom prst="ellipse">
            <a:avLst/>
          </a:prstGeom>
          <a:solidFill>
            <a:srgbClr val="00D4FF"/>
            <a:alpha val="3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83037" y="72051"/>
            <a:ext cx="29651" cy="29651"/>
          </a:xfrm>
          <a:prstGeom prst="ellipse">
            <a:avLst/>
          </a:prstGeom>
          <a:solidFill>
            <a:srgbClr val="00D4FF"/>
            <a:alpha val="33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484367" y="2148480"/>
            <a:ext cx="11259" cy="11259"/>
          </a:xfrm>
          <a:prstGeom prst="ellipse">
            <a:avLst/>
          </a:prstGeom>
          <a:solidFill>
            <a:srgbClr val="FFFFFF"/>
            <a:alpha val="48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823463" y="763722"/>
            <a:ext cx="14303" cy="14303"/>
          </a:xfrm>
          <a:prstGeom prst="ellipse">
            <a:avLst/>
          </a:prstGeom>
          <a:solidFill>
            <a:srgbClr val="FFFFFF"/>
            <a:alpha val="49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9032" y="4719605"/>
            <a:ext cx="23236" cy="23236"/>
          </a:xfrm>
          <a:prstGeom prst="ellipse">
            <a:avLst/>
          </a:prstGeom>
          <a:solidFill>
            <a:srgbClr val="00D4FF"/>
            <a:alpha val="31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JetBrains Mono"/>
              </a:rPr>
              <a:t>● PLANET B-612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78240" y="27432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A0C0"/>
                </a:solidFill>
                <a:latin typeface="JetBrains Mono"/>
              </a:rPr>
              <a:t>SUPERAI SINGAPORE · JUNE 2026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" y="146304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200" b="0" i="0">
                <a:solidFill>
                  <a:srgbClr val="FFFFFF"/>
                </a:solidFill>
                <a:latin typeface="Apple Color Emoji"/>
              </a:rPr>
              <a:t>🌍🦊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" y="2743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JetBrains Mono"/>
              </a:rPr>
              <a:t>A LITTLE-PRINCE-INSPIRED COMPANION APP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315468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 i="0">
                <a:solidFill>
                  <a:srgbClr val="00D4FF"/>
                </a:solidFill>
                <a:latin typeface="Inter"/>
              </a:rPr>
              <a:t>Planet B-612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45720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6E9F5"/>
                </a:solidFill>
                <a:latin typeface="Inter"/>
              </a:rPr>
              <a:t>A tiny planet that </a:t>
            </a:r>
            <a:r>
              <a:rPr sz="2200" b="1" i="0">
                <a:solidFill>
                  <a:srgbClr val="00D4FF"/>
                </a:solidFill>
                <a:latin typeface="Inter"/>
              </a:rPr>
              <a:t>grows with your travels</a:t>
            </a:r>
            <a:r>
              <a:rPr sz="2200" b="0" i="0">
                <a:solidFill>
                  <a:srgbClr val="E6E9F5"/>
                </a:solidFill>
                <a:latin typeface="Inter"/>
              </a:rPr>
              <a:t>, tended by a fox who waits for the stories you bring back.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5669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A0C0"/>
                </a:solidFill>
                <a:latin typeface="JetBrains Mono"/>
              </a:rPr>
              <a:t>VISION + AGENTS + 3D   ·   BUILT IN 1 DAY   ·   SINGAPORE-THEMED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8680" y="608076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00354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8680" y="60807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JetBrains Mono"/>
              </a:rPr>
              <a:t>✦  ai-planet-b612-superai.vercel.app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2743200"/>
            <a:ext cx="6400800" cy="6400800"/>
          </a:xfrm>
          <a:prstGeom prst="ellipse">
            <a:avLst/>
          </a:prstGeom>
          <a:solidFill>
            <a:srgbClr val="00D4FF"/>
            <a:alpha val="1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55678" y="6500200"/>
            <a:ext cx="11131" cy="11131"/>
          </a:xfrm>
          <a:prstGeom prst="ellipse">
            <a:avLst/>
          </a:prstGeom>
          <a:solidFill>
            <a:srgbClr val="00D4FF"/>
            <a:alpha val="43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72721" y="4593011"/>
            <a:ext cx="16162" cy="16162"/>
          </a:xfrm>
          <a:prstGeom prst="ellipse">
            <a:avLst/>
          </a:prstGeom>
          <a:solidFill>
            <a:srgbClr val="FFFFFF"/>
            <a:alpha val="3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85862" y="1086189"/>
            <a:ext cx="18613" cy="18613"/>
          </a:xfrm>
          <a:prstGeom prst="ellipse">
            <a:avLst/>
          </a:prstGeom>
          <a:solidFill>
            <a:srgbClr val="00D4FF"/>
            <a:alpha val="38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28536" y="6510954"/>
            <a:ext cx="20883" cy="20883"/>
          </a:xfrm>
          <a:prstGeom prst="ellipse">
            <a:avLst/>
          </a:prstGeom>
          <a:solidFill>
            <a:srgbClr val="FFFFFF"/>
            <a:alpha val="20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37978" y="188216"/>
            <a:ext cx="19297" cy="19297"/>
          </a:xfrm>
          <a:prstGeom prst="ellipse">
            <a:avLst/>
          </a:prstGeom>
          <a:solidFill>
            <a:srgbClr val="00D4FF"/>
            <a:alpha val="2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72425" y="3605612"/>
            <a:ext cx="21210" cy="21210"/>
          </a:xfrm>
          <a:prstGeom prst="ellipse">
            <a:avLst/>
          </a:prstGeom>
          <a:solidFill>
            <a:srgbClr val="00D4FF"/>
            <a:alpha val="10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64043" y="937470"/>
            <a:ext cx="20204" cy="20204"/>
          </a:xfrm>
          <a:prstGeom prst="ellipse">
            <a:avLst/>
          </a:prstGeom>
          <a:solidFill>
            <a:srgbClr val="FFFFFF"/>
            <a:alpha val="36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16980" y="6128113"/>
            <a:ext cx="25935" cy="25935"/>
          </a:xfrm>
          <a:prstGeom prst="ellipse">
            <a:avLst/>
          </a:prstGeom>
          <a:solidFill>
            <a:srgbClr val="FFFFFF"/>
            <a:alpha val="4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00867" y="5416089"/>
            <a:ext cx="17075" cy="17075"/>
          </a:xfrm>
          <a:prstGeom prst="ellipse">
            <a:avLst/>
          </a:prstGeom>
          <a:solidFill>
            <a:srgbClr val="FFFFFF"/>
            <a:alpha val="48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65114" y="5170959"/>
            <a:ext cx="24303" cy="24303"/>
          </a:xfrm>
          <a:prstGeom prst="ellipse">
            <a:avLst/>
          </a:prstGeom>
          <a:solidFill>
            <a:srgbClr val="FFFFFF"/>
            <a:alpha val="3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74100" y="6342498"/>
            <a:ext cx="20016" cy="20016"/>
          </a:xfrm>
          <a:prstGeom prst="ellipse">
            <a:avLst/>
          </a:prstGeom>
          <a:solidFill>
            <a:srgbClr val="FFFFFF"/>
            <a:alpha val="2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63449" y="6170146"/>
            <a:ext cx="19220" cy="19220"/>
          </a:xfrm>
          <a:prstGeom prst="ellipse">
            <a:avLst/>
          </a:prstGeom>
          <a:solidFill>
            <a:srgbClr val="FFFFFF"/>
            <a:alpha val="468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24019" y="3337161"/>
            <a:ext cx="14436" cy="14436"/>
          </a:xfrm>
          <a:prstGeom prst="ellipse">
            <a:avLst/>
          </a:prstGeom>
          <a:solidFill>
            <a:srgbClr val="00D4FF"/>
            <a:alpha val="37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24670" y="6226655"/>
            <a:ext cx="15362" cy="15362"/>
          </a:xfrm>
          <a:prstGeom prst="ellipse">
            <a:avLst/>
          </a:prstGeom>
          <a:solidFill>
            <a:srgbClr val="FFFFFF"/>
            <a:alpha val="22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671861" y="4843159"/>
            <a:ext cx="20084" cy="20084"/>
          </a:xfrm>
          <a:prstGeom prst="ellipse">
            <a:avLst/>
          </a:prstGeom>
          <a:solidFill>
            <a:srgbClr val="FFFFFF"/>
            <a:alpha val="36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68042" y="2138628"/>
            <a:ext cx="14156" cy="14156"/>
          </a:xfrm>
          <a:prstGeom prst="ellipse">
            <a:avLst/>
          </a:prstGeom>
          <a:solidFill>
            <a:srgbClr val="FFFFFF"/>
            <a:alpha val="47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98657" y="516924"/>
            <a:ext cx="26407" cy="26407"/>
          </a:xfrm>
          <a:prstGeom prst="ellipse">
            <a:avLst/>
          </a:prstGeom>
          <a:solidFill>
            <a:srgbClr val="FFFFFF"/>
            <a:alpha val="46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33523" y="5107719"/>
            <a:ext cx="11175" cy="11175"/>
          </a:xfrm>
          <a:prstGeom prst="ellipse">
            <a:avLst/>
          </a:prstGeom>
          <a:solidFill>
            <a:srgbClr val="FFFFFF"/>
            <a:alpha val="20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62839" y="6004118"/>
            <a:ext cx="12125" cy="12125"/>
          </a:xfrm>
          <a:prstGeom prst="ellipse">
            <a:avLst/>
          </a:prstGeom>
          <a:solidFill>
            <a:srgbClr val="FFFFFF"/>
            <a:alpha val="44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84916" y="1443464"/>
            <a:ext cx="27611" cy="27611"/>
          </a:xfrm>
          <a:prstGeom prst="ellipse">
            <a:avLst/>
          </a:prstGeom>
          <a:solidFill>
            <a:srgbClr val="FFFFFF"/>
            <a:alpha val="3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8586" y="2485043"/>
            <a:ext cx="13437" cy="13437"/>
          </a:xfrm>
          <a:prstGeom prst="ellipse">
            <a:avLst/>
          </a:prstGeom>
          <a:solidFill>
            <a:srgbClr val="FFFFFF"/>
            <a:alpha val="13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637730" y="173814"/>
            <a:ext cx="24588" cy="24588"/>
          </a:xfrm>
          <a:prstGeom prst="ellipse">
            <a:avLst/>
          </a:prstGeom>
          <a:solidFill>
            <a:srgbClr val="00D4FF"/>
            <a:alpha val="20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16168" y="1077517"/>
            <a:ext cx="13674" cy="13674"/>
          </a:xfrm>
          <a:prstGeom prst="ellipse">
            <a:avLst/>
          </a:prstGeom>
          <a:solidFill>
            <a:srgbClr val="FFFFFF"/>
            <a:alpha val="25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6205" y="6789430"/>
            <a:ext cx="13028" cy="13028"/>
          </a:xfrm>
          <a:prstGeom prst="ellipse">
            <a:avLst/>
          </a:prstGeom>
          <a:solidFill>
            <a:srgbClr val="00D4FF"/>
            <a:alpha val="23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00812" y="5091788"/>
            <a:ext cx="12262" cy="12262"/>
          </a:xfrm>
          <a:prstGeom prst="ellipse">
            <a:avLst/>
          </a:prstGeom>
          <a:solidFill>
            <a:srgbClr val="00D4FF"/>
            <a:alpha val="1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69843" y="5253021"/>
            <a:ext cx="24798" cy="24798"/>
          </a:xfrm>
          <a:prstGeom prst="ellipse">
            <a:avLst/>
          </a:prstGeom>
          <a:solidFill>
            <a:srgbClr val="FFFFFF"/>
            <a:alpha val="40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4675" y="4837256"/>
            <a:ext cx="19455" cy="19455"/>
          </a:xfrm>
          <a:prstGeom prst="ellipse">
            <a:avLst/>
          </a:prstGeom>
          <a:solidFill>
            <a:srgbClr val="00D4FF"/>
            <a:alpha val="36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56305" y="699852"/>
            <a:ext cx="18956" cy="18956"/>
          </a:xfrm>
          <a:prstGeom prst="ellipse">
            <a:avLst/>
          </a:prstGeom>
          <a:solidFill>
            <a:srgbClr val="FFFFFF"/>
            <a:alpha val="151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1601" y="2694868"/>
            <a:ext cx="20296" cy="20296"/>
          </a:xfrm>
          <a:prstGeom prst="ellipse">
            <a:avLst/>
          </a:prstGeom>
          <a:solidFill>
            <a:srgbClr val="00D4FF"/>
            <a:alpha val="48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158824" y="4156482"/>
            <a:ext cx="18395" cy="18395"/>
          </a:xfrm>
          <a:prstGeom prst="ellipse">
            <a:avLst/>
          </a:prstGeom>
          <a:solidFill>
            <a:srgbClr val="00D4FF"/>
            <a:alpha val="3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713778" y="389404"/>
            <a:ext cx="10671" cy="10671"/>
          </a:xfrm>
          <a:prstGeom prst="ellipse">
            <a:avLst/>
          </a:prstGeom>
          <a:solidFill>
            <a:srgbClr val="00D4FF"/>
            <a:alpha val="13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42649" y="3485641"/>
            <a:ext cx="29669" cy="29669"/>
          </a:xfrm>
          <a:prstGeom prst="ellipse">
            <a:avLst/>
          </a:prstGeom>
          <a:solidFill>
            <a:srgbClr val="FFFFFF"/>
            <a:alpha val="49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834250" y="3049735"/>
            <a:ext cx="15015" cy="15015"/>
          </a:xfrm>
          <a:prstGeom prst="ellipse">
            <a:avLst/>
          </a:prstGeom>
          <a:solidFill>
            <a:srgbClr val="FFFFFF"/>
            <a:alpha val="34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55885" y="4865739"/>
            <a:ext cx="15132" cy="15132"/>
          </a:xfrm>
          <a:prstGeom prst="ellipse">
            <a:avLst/>
          </a:prstGeom>
          <a:solidFill>
            <a:srgbClr val="FFFFFF"/>
            <a:alpha val="31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822" y="243454"/>
            <a:ext cx="18174" cy="18174"/>
          </a:xfrm>
          <a:prstGeom prst="ellipse">
            <a:avLst/>
          </a:prstGeom>
          <a:solidFill>
            <a:srgbClr val="00D4FF"/>
            <a:alpha val="38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36558" y="684243"/>
            <a:ext cx="13635" cy="13635"/>
          </a:xfrm>
          <a:prstGeom prst="ellipse">
            <a:avLst/>
          </a:prstGeom>
          <a:solidFill>
            <a:srgbClr val="00D4FF"/>
            <a:alpha val="18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48658" y="3184876"/>
            <a:ext cx="16194" cy="16194"/>
          </a:xfrm>
          <a:prstGeom prst="ellipse">
            <a:avLst/>
          </a:prstGeom>
          <a:solidFill>
            <a:srgbClr val="FFFFFF"/>
            <a:alpha val="18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052535" y="6605054"/>
            <a:ext cx="24578" cy="24578"/>
          </a:xfrm>
          <a:prstGeom prst="ellipse">
            <a:avLst/>
          </a:prstGeom>
          <a:solidFill>
            <a:srgbClr val="FFFFFF"/>
            <a:alpha val="30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084305" y="351367"/>
            <a:ext cx="18360" cy="18360"/>
          </a:xfrm>
          <a:prstGeom prst="ellipse">
            <a:avLst/>
          </a:prstGeom>
          <a:solidFill>
            <a:srgbClr val="FFFFFF"/>
            <a:alpha val="17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43419" y="5504609"/>
            <a:ext cx="17323" cy="17323"/>
          </a:xfrm>
          <a:prstGeom prst="ellipse">
            <a:avLst/>
          </a:prstGeom>
          <a:solidFill>
            <a:srgbClr val="FFFFFF"/>
            <a:alpha val="46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443155" y="1985944"/>
            <a:ext cx="29670" cy="29670"/>
          </a:xfrm>
          <a:prstGeom prst="ellipse">
            <a:avLst/>
          </a:prstGeom>
          <a:solidFill>
            <a:srgbClr val="00D4FF"/>
            <a:alpha val="10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55098" y="693768"/>
            <a:ext cx="16118" cy="16118"/>
          </a:xfrm>
          <a:prstGeom prst="ellipse">
            <a:avLst/>
          </a:prstGeom>
          <a:solidFill>
            <a:srgbClr val="FFFFFF"/>
            <a:alpha val="36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91678" y="3095862"/>
            <a:ext cx="18213" cy="18213"/>
          </a:xfrm>
          <a:prstGeom prst="ellipse">
            <a:avLst/>
          </a:prstGeom>
          <a:solidFill>
            <a:srgbClr val="FFFFFF"/>
            <a:alpha val="18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77800" y="506047"/>
            <a:ext cx="15687" cy="15687"/>
          </a:xfrm>
          <a:prstGeom prst="ellipse">
            <a:avLst/>
          </a:prstGeom>
          <a:solidFill>
            <a:srgbClr val="00D4FF"/>
            <a:alpha val="47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3252" y="5177681"/>
            <a:ext cx="13847" cy="13847"/>
          </a:xfrm>
          <a:prstGeom prst="ellipse">
            <a:avLst/>
          </a:prstGeom>
          <a:solidFill>
            <a:srgbClr val="FFFFFF"/>
            <a:alpha val="25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647490" y="5168055"/>
            <a:ext cx="17900" cy="17900"/>
          </a:xfrm>
          <a:prstGeom prst="ellipse">
            <a:avLst/>
          </a:prstGeom>
          <a:solidFill>
            <a:srgbClr val="00D4FF"/>
            <a:alpha val="14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81562" y="5829786"/>
            <a:ext cx="22819" cy="22819"/>
          </a:xfrm>
          <a:prstGeom prst="ellipse">
            <a:avLst/>
          </a:prstGeom>
          <a:solidFill>
            <a:srgbClr val="FFFFFF"/>
            <a:alpha val="3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0754" y="4520516"/>
            <a:ext cx="25544" cy="25544"/>
          </a:xfrm>
          <a:prstGeom prst="ellipse">
            <a:avLst/>
          </a:prstGeom>
          <a:solidFill>
            <a:srgbClr val="FFFFFF"/>
            <a:alpha val="29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59562" y="3134350"/>
            <a:ext cx="25974" cy="25974"/>
          </a:xfrm>
          <a:prstGeom prst="ellipse">
            <a:avLst/>
          </a:prstGeom>
          <a:solidFill>
            <a:srgbClr val="00D4FF"/>
            <a:alpha val="31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822260" y="6547310"/>
            <a:ext cx="26086" cy="26086"/>
          </a:xfrm>
          <a:prstGeom prst="ellipse">
            <a:avLst/>
          </a:prstGeom>
          <a:solidFill>
            <a:srgbClr val="FFFFFF"/>
            <a:alpha val="4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618052" y="1588500"/>
            <a:ext cx="19775" cy="19775"/>
          </a:xfrm>
          <a:prstGeom prst="ellipse">
            <a:avLst/>
          </a:prstGeom>
          <a:solidFill>
            <a:srgbClr val="00D4FF"/>
            <a:alpha val="27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79870" y="6299623"/>
            <a:ext cx="21718" cy="21718"/>
          </a:xfrm>
          <a:prstGeom prst="ellipse">
            <a:avLst/>
          </a:prstGeom>
          <a:solidFill>
            <a:srgbClr val="FFFFFF"/>
            <a:alpha val="1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340941" y="6842555"/>
            <a:ext cx="12930" cy="12930"/>
          </a:xfrm>
          <a:prstGeom prst="ellipse">
            <a:avLst/>
          </a:prstGeom>
          <a:solidFill>
            <a:srgbClr val="FFFFFF"/>
            <a:alpha val="12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50306" y="6141341"/>
            <a:ext cx="29772" cy="29772"/>
          </a:xfrm>
          <a:prstGeom prst="ellipse">
            <a:avLst/>
          </a:prstGeom>
          <a:solidFill>
            <a:srgbClr val="FFFFFF"/>
            <a:alpha val="1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613405" y="1588996"/>
            <a:ext cx="23414" cy="23414"/>
          </a:xfrm>
          <a:prstGeom prst="ellipse">
            <a:avLst/>
          </a:prstGeom>
          <a:solidFill>
            <a:srgbClr val="FFFFFF"/>
            <a:alpha val="27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88384" y="768577"/>
            <a:ext cx="20817" cy="20817"/>
          </a:xfrm>
          <a:prstGeom prst="ellipse">
            <a:avLst/>
          </a:prstGeom>
          <a:solidFill>
            <a:srgbClr val="FFFFFF"/>
            <a:alpha val="40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72285" y="3542166"/>
            <a:ext cx="24307" cy="24307"/>
          </a:xfrm>
          <a:prstGeom prst="ellipse">
            <a:avLst/>
          </a:prstGeom>
          <a:solidFill>
            <a:srgbClr val="00D4FF"/>
            <a:alpha val="45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619651" y="4822759"/>
            <a:ext cx="18083" cy="18083"/>
          </a:xfrm>
          <a:prstGeom prst="ellipse">
            <a:avLst/>
          </a:prstGeom>
          <a:solidFill>
            <a:srgbClr val="FFFFFF"/>
            <a:alpha val="41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991210" y="992798"/>
            <a:ext cx="18823" cy="18823"/>
          </a:xfrm>
          <a:prstGeom prst="ellipse">
            <a:avLst/>
          </a:prstGeom>
          <a:solidFill>
            <a:srgbClr val="00D4FF"/>
            <a:alpha val="338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50850" y="1237351"/>
            <a:ext cx="20203" cy="20203"/>
          </a:xfrm>
          <a:prstGeom prst="ellipse">
            <a:avLst/>
          </a:prstGeom>
          <a:solidFill>
            <a:srgbClr val="FFFFFF"/>
            <a:alpha val="26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JetBrains Mono"/>
              </a:rPr>
              <a:t>● PLANET B-612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0" y="27432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A0C0"/>
                </a:solidFill>
                <a:latin typeface="JetBrains Mono"/>
              </a:rPr>
              <a:t>THE PROBLEM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Inter"/>
              </a:rPr>
              <a:t>WHY THIS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1143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E6E9F5"/>
                </a:solidFill>
                <a:latin typeface="Inter"/>
              </a:rPr>
              <a:t>Travel memories </a:t>
            </a:r>
            <a:r>
              <a:rPr sz="3600" b="1">
                <a:solidFill>
                  <a:srgbClr val="00D4FF"/>
                </a:solidFill>
                <a:latin typeface="Inter"/>
              </a:rPr>
              <a:t>deserve a home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E6E9F5"/>
                </a:solidFill>
                <a:latin typeface="Inter"/>
              </a:rPr>
              <a:t>that isn't a camera roll.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26060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AA0C0"/>
                </a:solidFill>
                <a:latin typeface="Inter"/>
              </a:rPr>
              <a:t>We snap thousands of photos. Most are never seen again. We tell incredible stories — once — to a friend, then forget the detail. The trip ends, the world dissolves back into a folder named 2026/SG.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" y="3703320"/>
            <a:ext cx="5349240" cy="2697480"/>
          </a:xfrm>
          <a:prstGeom prst="roundRect">
            <a:avLst>
              <a:gd name="adj" fmla="val 4000"/>
            </a:avLst>
          </a:prstGeom>
          <a:solidFill>
            <a:srgbClr val="1216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0120" y="3886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Inter"/>
              </a:rPr>
              <a:t>📸  Today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0120" y="4343400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6E9F5"/>
                </a:solidFill>
                <a:latin typeface="Inter"/>
              </a:rPr>
              <a:t>▸  Photos pile up in chronological folders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6E9F5"/>
                </a:solidFill>
                <a:latin typeface="Inter"/>
              </a:rPr>
              <a:t>▸  No structure: sunset, noodles, temple wall — all equal pixels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6E9F5"/>
                </a:solidFill>
                <a:latin typeface="Inter"/>
              </a:rPr>
              <a:t>▸  Cultural context lives only in the moment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6E9F5"/>
                </a:solidFill>
                <a:latin typeface="Inter"/>
              </a:rPr>
              <a:t>▸  Travel ends → memories fade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17920" y="3703320"/>
            <a:ext cx="5349240" cy="2697480"/>
          </a:xfrm>
          <a:prstGeom prst="roundRect">
            <a:avLst>
              <a:gd name="adj" fmla="val 4000"/>
            </a:avLst>
          </a:prstGeom>
          <a:solidFill>
            <a:srgbClr val="121632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37960" y="3886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Inter"/>
              </a:rPr>
              <a:t>🌍  Planet B-612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37960" y="4343400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6E9F5"/>
                </a:solidFill>
                <a:latin typeface="Inter"/>
              </a:rPr>
              <a:t>▸  Each photo becomes a living 3D model on your planet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6E9F5"/>
                </a:solidFill>
                <a:latin typeface="Inter"/>
              </a:rPr>
              <a:t>▸  An AI fox identifies it and tells you the deep local context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6E9F5"/>
                </a:solidFill>
                <a:latin typeface="Inter"/>
              </a:rPr>
              <a:t>▸  Codex grows; planet evolves; fox writes diary entries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6E9F5"/>
                </a:solidFill>
                <a:latin typeface="Inter"/>
              </a:rPr>
              <a:t>▸  Years later, you can still walk through the world you brought 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743200"/>
            <a:ext cx="7315200" cy="7315200"/>
          </a:xfrm>
          <a:prstGeom prst="ellipse">
            <a:avLst/>
          </a:prstGeom>
          <a:solidFill>
            <a:srgbClr val="7C3AED"/>
            <a:alpha val="1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01192" y="3732324"/>
            <a:ext cx="17399" cy="17399"/>
          </a:xfrm>
          <a:prstGeom prst="ellipse">
            <a:avLst/>
          </a:prstGeom>
          <a:solidFill>
            <a:srgbClr val="FFFFFF"/>
            <a:alpha val="35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8907" y="90306"/>
            <a:ext cx="26749" cy="26749"/>
          </a:xfrm>
          <a:prstGeom prst="ellipse">
            <a:avLst/>
          </a:prstGeom>
          <a:solidFill>
            <a:srgbClr val="00D4FF"/>
            <a:alpha val="19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138598" y="3225067"/>
            <a:ext cx="26729" cy="26729"/>
          </a:xfrm>
          <a:prstGeom prst="ellipse">
            <a:avLst/>
          </a:prstGeom>
          <a:solidFill>
            <a:srgbClr val="FFFFFF"/>
            <a:alpha val="35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36269" y="4353874"/>
            <a:ext cx="27360" cy="27360"/>
          </a:xfrm>
          <a:prstGeom prst="ellipse">
            <a:avLst/>
          </a:prstGeom>
          <a:solidFill>
            <a:srgbClr val="FFFFFF"/>
            <a:alpha val="3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85643" y="439127"/>
            <a:ext cx="25164" cy="25164"/>
          </a:xfrm>
          <a:prstGeom prst="ellipse">
            <a:avLst/>
          </a:prstGeom>
          <a:solidFill>
            <a:srgbClr val="FFFFFF"/>
            <a:alpha val="2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8085" y="5935785"/>
            <a:ext cx="19454" cy="19454"/>
          </a:xfrm>
          <a:prstGeom prst="ellipse">
            <a:avLst/>
          </a:prstGeom>
          <a:solidFill>
            <a:srgbClr val="FFFFFF"/>
            <a:alpha val="45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06448" y="6316894"/>
            <a:ext cx="17899" cy="17899"/>
          </a:xfrm>
          <a:prstGeom prst="ellipse">
            <a:avLst/>
          </a:prstGeom>
          <a:solidFill>
            <a:srgbClr val="FFFFFF"/>
            <a:alpha val="27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06387" y="6027267"/>
            <a:ext cx="11949" cy="11949"/>
          </a:xfrm>
          <a:prstGeom prst="ellipse">
            <a:avLst/>
          </a:prstGeom>
          <a:solidFill>
            <a:srgbClr val="00D4FF"/>
            <a:alpha val="18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70839" y="2991198"/>
            <a:ext cx="22532" cy="22532"/>
          </a:xfrm>
          <a:prstGeom prst="ellipse">
            <a:avLst/>
          </a:prstGeom>
          <a:solidFill>
            <a:srgbClr val="00D4FF"/>
            <a:alpha val="30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4363" y="2406544"/>
            <a:ext cx="21701" cy="21701"/>
          </a:xfrm>
          <a:prstGeom prst="ellipse">
            <a:avLst/>
          </a:prstGeom>
          <a:solidFill>
            <a:srgbClr val="FFFFFF"/>
            <a:alpha val="46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14518" y="6370708"/>
            <a:ext cx="27128" cy="27128"/>
          </a:xfrm>
          <a:prstGeom prst="ellipse">
            <a:avLst/>
          </a:prstGeom>
          <a:solidFill>
            <a:srgbClr val="FFFFFF"/>
            <a:alpha val="36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88460" y="5902252"/>
            <a:ext cx="29292" cy="29292"/>
          </a:xfrm>
          <a:prstGeom prst="ellipse">
            <a:avLst/>
          </a:prstGeom>
          <a:solidFill>
            <a:srgbClr val="FFFFFF"/>
            <a:alpha val="32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02639" y="1447895"/>
            <a:ext cx="26632" cy="26632"/>
          </a:xfrm>
          <a:prstGeom prst="ellipse">
            <a:avLst/>
          </a:prstGeom>
          <a:solidFill>
            <a:srgbClr val="FFFFFF"/>
            <a:alpha val="21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3692" y="5856337"/>
            <a:ext cx="29796" cy="29796"/>
          </a:xfrm>
          <a:prstGeom prst="ellipse">
            <a:avLst/>
          </a:prstGeom>
          <a:solidFill>
            <a:srgbClr val="00D4FF"/>
            <a:alpha val="42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04225" y="1033948"/>
            <a:ext cx="15877" cy="15877"/>
          </a:xfrm>
          <a:prstGeom prst="ellipse">
            <a:avLst/>
          </a:prstGeom>
          <a:solidFill>
            <a:srgbClr val="FFFFFF"/>
            <a:alpha val="44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8751" y="4214464"/>
            <a:ext cx="10898" cy="10898"/>
          </a:xfrm>
          <a:prstGeom prst="ellipse">
            <a:avLst/>
          </a:prstGeom>
          <a:solidFill>
            <a:srgbClr val="FFFFFF"/>
            <a:alpha val="2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39728" y="6725200"/>
            <a:ext cx="20108" cy="20108"/>
          </a:xfrm>
          <a:prstGeom prst="ellipse">
            <a:avLst/>
          </a:prstGeom>
          <a:solidFill>
            <a:srgbClr val="FFFFFF"/>
            <a:alpha val="22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8403" y="4113173"/>
            <a:ext cx="10627" cy="10627"/>
          </a:xfrm>
          <a:prstGeom prst="ellipse">
            <a:avLst/>
          </a:prstGeom>
          <a:solidFill>
            <a:srgbClr val="00D4FF"/>
            <a:alpha val="26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42628" y="1071212"/>
            <a:ext cx="10848" cy="10848"/>
          </a:xfrm>
          <a:prstGeom prst="ellipse">
            <a:avLst/>
          </a:prstGeom>
          <a:solidFill>
            <a:srgbClr val="FFFFFF"/>
            <a:alpha val="22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87683" y="6149291"/>
            <a:ext cx="17555" cy="17555"/>
          </a:xfrm>
          <a:prstGeom prst="ellipse">
            <a:avLst/>
          </a:prstGeom>
          <a:solidFill>
            <a:srgbClr val="FFFFFF"/>
            <a:alpha val="3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50094" y="4084969"/>
            <a:ext cx="21185" cy="21185"/>
          </a:xfrm>
          <a:prstGeom prst="ellipse">
            <a:avLst/>
          </a:prstGeom>
          <a:solidFill>
            <a:srgbClr val="FFFFFF"/>
            <a:alpha val="47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81516" y="2957111"/>
            <a:ext cx="24406" cy="24406"/>
          </a:xfrm>
          <a:prstGeom prst="ellipse">
            <a:avLst/>
          </a:prstGeom>
          <a:solidFill>
            <a:srgbClr val="00D4FF"/>
            <a:alpha val="2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921006" y="3573890"/>
            <a:ext cx="20968" cy="20968"/>
          </a:xfrm>
          <a:prstGeom prst="ellipse">
            <a:avLst/>
          </a:prstGeom>
          <a:solidFill>
            <a:srgbClr val="00D4FF"/>
            <a:alpha val="26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70758" y="137522"/>
            <a:ext cx="22315" cy="22315"/>
          </a:xfrm>
          <a:prstGeom prst="ellipse">
            <a:avLst/>
          </a:prstGeom>
          <a:solidFill>
            <a:srgbClr val="FFFFFF"/>
            <a:alpha val="124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48351" y="3197545"/>
            <a:ext cx="23585" cy="23585"/>
          </a:xfrm>
          <a:prstGeom prst="ellipse">
            <a:avLst/>
          </a:prstGeom>
          <a:solidFill>
            <a:srgbClr val="00D4FF"/>
            <a:alpha val="3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97888" y="152127"/>
            <a:ext cx="11211" cy="11211"/>
          </a:xfrm>
          <a:prstGeom prst="ellipse">
            <a:avLst/>
          </a:prstGeom>
          <a:solidFill>
            <a:srgbClr val="FFFFFF"/>
            <a:alpha val="48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61606" y="3129388"/>
            <a:ext cx="21853" cy="21853"/>
          </a:xfrm>
          <a:prstGeom prst="ellipse">
            <a:avLst/>
          </a:prstGeom>
          <a:solidFill>
            <a:srgbClr val="00D4FF"/>
            <a:alpha val="24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11985" y="2531657"/>
            <a:ext cx="21912" cy="21912"/>
          </a:xfrm>
          <a:prstGeom prst="ellipse">
            <a:avLst/>
          </a:prstGeom>
          <a:solidFill>
            <a:srgbClr val="00D4FF"/>
            <a:alpha val="25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15321" y="184625"/>
            <a:ext cx="21385" cy="21385"/>
          </a:xfrm>
          <a:prstGeom prst="ellipse">
            <a:avLst/>
          </a:prstGeom>
          <a:solidFill>
            <a:srgbClr val="FFFFFF"/>
            <a:alpha val="22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13113" y="5512513"/>
            <a:ext cx="14773" cy="14773"/>
          </a:xfrm>
          <a:prstGeom prst="ellipse">
            <a:avLst/>
          </a:prstGeom>
          <a:solidFill>
            <a:srgbClr val="00D4FF"/>
            <a:alpha val="274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10612" y="698430"/>
            <a:ext cx="16439" cy="16439"/>
          </a:xfrm>
          <a:prstGeom prst="ellipse">
            <a:avLst/>
          </a:prstGeom>
          <a:solidFill>
            <a:srgbClr val="00D4FF"/>
            <a:alpha val="43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345213" y="5867260"/>
            <a:ext cx="13385" cy="13385"/>
          </a:xfrm>
          <a:prstGeom prst="ellipse">
            <a:avLst/>
          </a:prstGeom>
          <a:solidFill>
            <a:srgbClr val="00D4FF"/>
            <a:alpha val="36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88409" y="3093658"/>
            <a:ext cx="14500" cy="14500"/>
          </a:xfrm>
          <a:prstGeom prst="ellipse">
            <a:avLst/>
          </a:prstGeom>
          <a:solidFill>
            <a:srgbClr val="00D4FF"/>
            <a:alpha val="31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326221" y="5532878"/>
            <a:ext cx="26769" cy="26769"/>
          </a:xfrm>
          <a:prstGeom prst="ellipse">
            <a:avLst/>
          </a:prstGeom>
          <a:solidFill>
            <a:srgbClr val="00D4FF"/>
            <a:alpha val="21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841458" y="4402405"/>
            <a:ext cx="26125" cy="26125"/>
          </a:xfrm>
          <a:prstGeom prst="ellipse">
            <a:avLst/>
          </a:prstGeom>
          <a:solidFill>
            <a:srgbClr val="00D4FF"/>
            <a:alpha val="15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559278" y="5444305"/>
            <a:ext cx="15423" cy="15423"/>
          </a:xfrm>
          <a:prstGeom prst="ellipse">
            <a:avLst/>
          </a:prstGeom>
          <a:solidFill>
            <a:srgbClr val="00D4FF"/>
            <a:alpha val="26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117722" y="2808502"/>
            <a:ext cx="28412" cy="28412"/>
          </a:xfrm>
          <a:prstGeom prst="ellipse">
            <a:avLst/>
          </a:prstGeom>
          <a:solidFill>
            <a:srgbClr val="00D4FF"/>
            <a:alpha val="101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00033" y="6034890"/>
            <a:ext cx="29738" cy="29738"/>
          </a:xfrm>
          <a:prstGeom prst="ellipse">
            <a:avLst/>
          </a:prstGeom>
          <a:solidFill>
            <a:srgbClr val="FFFFFF"/>
            <a:alpha val="480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306300" y="1523098"/>
            <a:ext cx="24910" cy="24910"/>
          </a:xfrm>
          <a:prstGeom prst="ellipse">
            <a:avLst/>
          </a:prstGeom>
          <a:solidFill>
            <a:srgbClr val="FFFFFF"/>
            <a:alpha val="36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27672" y="1982248"/>
            <a:ext cx="16821" cy="16821"/>
          </a:xfrm>
          <a:prstGeom prst="ellipse">
            <a:avLst/>
          </a:prstGeom>
          <a:solidFill>
            <a:srgbClr val="00D4FF"/>
            <a:alpha val="12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76979" y="1968322"/>
            <a:ext cx="26203" cy="26203"/>
          </a:xfrm>
          <a:prstGeom prst="ellipse">
            <a:avLst/>
          </a:prstGeom>
          <a:solidFill>
            <a:srgbClr val="00D4FF"/>
            <a:alpha val="46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57447" y="6335796"/>
            <a:ext cx="27931" cy="27931"/>
          </a:xfrm>
          <a:prstGeom prst="ellipse">
            <a:avLst/>
          </a:prstGeom>
          <a:solidFill>
            <a:srgbClr val="FFFFFF"/>
            <a:alpha val="33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0253" y="5111255"/>
            <a:ext cx="13436" cy="13436"/>
          </a:xfrm>
          <a:prstGeom prst="ellipse">
            <a:avLst/>
          </a:prstGeom>
          <a:solidFill>
            <a:srgbClr val="00D4FF"/>
            <a:alpha val="36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00202" y="2837500"/>
            <a:ext cx="28780" cy="28780"/>
          </a:xfrm>
          <a:prstGeom prst="ellipse">
            <a:avLst/>
          </a:prstGeom>
          <a:solidFill>
            <a:srgbClr val="FFFFFF"/>
            <a:alpha val="23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8096" y="5909296"/>
            <a:ext cx="19543" cy="19543"/>
          </a:xfrm>
          <a:prstGeom prst="ellipse">
            <a:avLst/>
          </a:prstGeom>
          <a:solidFill>
            <a:srgbClr val="FFFFFF"/>
            <a:alpha val="24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405831" y="3666540"/>
            <a:ext cx="26336" cy="26336"/>
          </a:xfrm>
          <a:prstGeom prst="ellipse">
            <a:avLst/>
          </a:prstGeom>
          <a:solidFill>
            <a:srgbClr val="00D4FF"/>
            <a:alpha val="41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237896" y="5527898"/>
            <a:ext cx="26469" cy="26469"/>
          </a:xfrm>
          <a:prstGeom prst="ellipse">
            <a:avLst/>
          </a:prstGeom>
          <a:solidFill>
            <a:srgbClr val="00D4FF"/>
            <a:alpha val="35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516002" y="342432"/>
            <a:ext cx="15427" cy="15427"/>
          </a:xfrm>
          <a:prstGeom prst="ellipse">
            <a:avLst/>
          </a:prstGeom>
          <a:solidFill>
            <a:srgbClr val="00D4FF"/>
            <a:alpha val="31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156891" y="3243148"/>
            <a:ext cx="25529" cy="25529"/>
          </a:xfrm>
          <a:prstGeom prst="ellipse">
            <a:avLst/>
          </a:prstGeom>
          <a:solidFill>
            <a:srgbClr val="00D4FF"/>
            <a:alpha val="12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546678" y="854686"/>
            <a:ext cx="11368" cy="11368"/>
          </a:xfrm>
          <a:prstGeom prst="ellipse">
            <a:avLst/>
          </a:prstGeom>
          <a:solidFill>
            <a:srgbClr val="FFFFFF"/>
            <a:alpha val="44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50046" y="3443539"/>
            <a:ext cx="16317" cy="16317"/>
          </a:xfrm>
          <a:prstGeom prst="ellipse">
            <a:avLst/>
          </a:prstGeom>
          <a:solidFill>
            <a:srgbClr val="00D4FF"/>
            <a:alpha val="24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886973" y="4022992"/>
            <a:ext cx="17216" cy="17216"/>
          </a:xfrm>
          <a:prstGeom prst="ellipse">
            <a:avLst/>
          </a:prstGeom>
          <a:solidFill>
            <a:srgbClr val="00D4FF"/>
            <a:alpha val="2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508783" y="3809796"/>
            <a:ext cx="24320" cy="24320"/>
          </a:xfrm>
          <a:prstGeom prst="ellipse">
            <a:avLst/>
          </a:prstGeom>
          <a:solidFill>
            <a:srgbClr val="00D4FF"/>
            <a:alpha val="13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176902" y="2559917"/>
            <a:ext cx="22088" cy="22088"/>
          </a:xfrm>
          <a:prstGeom prst="ellipse">
            <a:avLst/>
          </a:prstGeom>
          <a:solidFill>
            <a:srgbClr val="FFFFFF"/>
            <a:alpha val="25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767509" y="4272030"/>
            <a:ext cx="18631" cy="18631"/>
          </a:xfrm>
          <a:prstGeom prst="ellipse">
            <a:avLst/>
          </a:prstGeom>
          <a:solidFill>
            <a:srgbClr val="00D4FF"/>
            <a:alpha val="29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569306" y="2883884"/>
            <a:ext cx="23882" cy="23882"/>
          </a:xfrm>
          <a:prstGeom prst="ellipse">
            <a:avLst/>
          </a:prstGeom>
          <a:solidFill>
            <a:srgbClr val="FFFFFF"/>
            <a:alpha val="19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532765" y="4767470"/>
            <a:ext cx="11431" cy="11431"/>
          </a:xfrm>
          <a:prstGeom prst="ellipse">
            <a:avLst/>
          </a:prstGeom>
          <a:solidFill>
            <a:srgbClr val="FFFFFF"/>
            <a:alpha val="2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724659" y="6422407"/>
            <a:ext cx="17484" cy="17484"/>
          </a:xfrm>
          <a:prstGeom prst="ellipse">
            <a:avLst/>
          </a:prstGeom>
          <a:solidFill>
            <a:srgbClr val="FFFFFF"/>
            <a:alpha val="41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196415" y="3183094"/>
            <a:ext cx="12462" cy="12462"/>
          </a:xfrm>
          <a:prstGeom prst="ellipse">
            <a:avLst/>
          </a:prstGeom>
          <a:solidFill>
            <a:srgbClr val="FFFFFF"/>
            <a:alpha val="3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818221" y="5434755"/>
            <a:ext cx="23351" cy="23351"/>
          </a:xfrm>
          <a:prstGeom prst="ellipse">
            <a:avLst/>
          </a:prstGeom>
          <a:solidFill>
            <a:srgbClr val="FFFFFF"/>
            <a:alpha val="32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JetBrains Mono"/>
              </a:rPr>
              <a:t>● PLANET B-612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0" y="27432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A0C0"/>
                </a:solidFill>
                <a:latin typeface="JetBrains Mono"/>
              </a:rPr>
              <a:t>THE CONCEPT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Inter"/>
              </a:rPr>
              <a:t>THE LOOP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1143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E6E9F5"/>
                </a:solidFill>
                <a:latin typeface="Inter"/>
              </a:rPr>
              <a:t>From </a:t>
            </a:r>
            <a:r>
              <a:rPr sz="3600" b="1">
                <a:solidFill>
                  <a:srgbClr val="00D4FF"/>
                </a:solidFill>
                <a:latin typeface="Inter"/>
              </a:rPr>
              <a:t>snap</a:t>
            </a:r>
            <a:r>
              <a:rPr sz="3600" b="1">
                <a:solidFill>
                  <a:srgbClr val="E6E9F5"/>
                </a:solidFill>
                <a:latin typeface="Inter"/>
              </a:rPr>
              <a:t> to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00D4FF"/>
                </a:solidFill>
                <a:latin typeface="Inter"/>
              </a:rPr>
              <a:t>grow</a:t>
            </a:r>
            <a:r>
              <a:rPr sz="3600" b="1">
                <a:solidFill>
                  <a:srgbClr val="E6E9F5"/>
                </a:solidFill>
                <a:latin typeface="Inter"/>
              </a:rPr>
              <a:t> in four steps.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" y="2697480"/>
            <a:ext cx="38100" cy="128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" y="26974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E6E9F5"/>
                </a:solidFill>
                <a:latin typeface="Inter"/>
              </a:rPr>
              <a:t>"It is the time you have wasted for your rose that makes your rose so important."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3520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0C0"/>
                </a:solidFill>
                <a:latin typeface="JetBrains Mono"/>
              </a:rPr>
              <a:t>— Antoine de Saint-Exupéry, The Little Prince</a:t>
            </a:r>
          </a:p>
        </p:txBody>
      </p:sp>
      <p:sp>
        <p:nvSpPr>
          <p:cNvPr id="71" name="Oval 70"/>
          <p:cNvSpPr/>
          <p:nvPr/>
        </p:nvSpPr>
        <p:spPr>
          <a:xfrm>
            <a:off x="777240" y="4526280"/>
            <a:ext cx="1417320" cy="1417320"/>
          </a:xfrm>
          <a:prstGeom prst="ellipse">
            <a:avLst/>
          </a:prstGeom>
          <a:solidFill>
            <a:srgbClr val="0C1F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7240" y="466344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Apple Color Emoji"/>
              </a:rPr>
              <a:t>📷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7240" y="534924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JetBrains Mono"/>
              </a:rPr>
              <a:t>CAPTURE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" y="5989320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A0C0"/>
                </a:solidFill>
                <a:latin typeface="Inter"/>
              </a:rPr>
              <a:t>Snap anything
that catches your eye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31720" y="5029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00D4FF"/>
                </a:solidFill>
                <a:latin typeface="Inter"/>
              </a:rPr>
              <a:t>→</a:t>
            </a:r>
          </a:p>
        </p:txBody>
      </p:sp>
      <p:sp>
        <p:nvSpPr>
          <p:cNvPr id="76" name="Oval 75"/>
          <p:cNvSpPr/>
          <p:nvPr/>
        </p:nvSpPr>
        <p:spPr>
          <a:xfrm>
            <a:off x="3383280" y="4526280"/>
            <a:ext cx="1417320" cy="1417320"/>
          </a:xfrm>
          <a:prstGeom prst="ellipse">
            <a:avLst/>
          </a:prstGeom>
          <a:solidFill>
            <a:srgbClr val="0C1F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383280" y="466344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Apple Color Emoji"/>
              </a:rPr>
              <a:t>🤖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83280" y="534924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JetBrains Mono"/>
              </a:rPr>
              <a:t>IDENTIFY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0" y="5989320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A0C0"/>
                </a:solidFill>
                <a:latin typeface="Inter"/>
              </a:rPr>
              <a:t>Qwen-VL +
local context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37760" y="5029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00D4FF"/>
                </a:solidFill>
                <a:latin typeface="Inter"/>
              </a:rPr>
              <a:t>→</a:t>
            </a:r>
          </a:p>
        </p:txBody>
      </p:sp>
      <p:sp>
        <p:nvSpPr>
          <p:cNvPr id="81" name="Oval 80"/>
          <p:cNvSpPr/>
          <p:nvPr/>
        </p:nvSpPr>
        <p:spPr>
          <a:xfrm>
            <a:off x="5989320" y="4526280"/>
            <a:ext cx="1417320" cy="1417320"/>
          </a:xfrm>
          <a:prstGeom prst="ellipse">
            <a:avLst/>
          </a:prstGeom>
          <a:solidFill>
            <a:srgbClr val="0C1F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89320" y="466344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Apple Color Emoji"/>
              </a:rPr>
              <a:t>🌍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89320" y="534924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JetBrains Mono"/>
              </a:rPr>
              <a:t>PLANT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06440" y="5989320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A0C0"/>
                </a:solidFill>
                <a:latin typeface="Inter"/>
              </a:rPr>
              <a:t>Low-poly model
spawns on planet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43800" y="5029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00D4FF"/>
                </a:solidFill>
                <a:latin typeface="Inter"/>
              </a:rPr>
              <a:t>→</a:t>
            </a:r>
          </a:p>
        </p:txBody>
      </p:sp>
      <p:sp>
        <p:nvSpPr>
          <p:cNvPr id="86" name="Oval 85"/>
          <p:cNvSpPr/>
          <p:nvPr/>
        </p:nvSpPr>
        <p:spPr>
          <a:xfrm>
            <a:off x="8595360" y="4526280"/>
            <a:ext cx="1417320" cy="1417320"/>
          </a:xfrm>
          <a:prstGeom prst="ellipse">
            <a:avLst/>
          </a:prstGeom>
          <a:solidFill>
            <a:srgbClr val="0C1F35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95360" y="466344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Apple Color Emoji"/>
              </a:rPr>
              <a:t>🦊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95360" y="534924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JetBrains Mono"/>
              </a:rPr>
              <a:t>FOX LIVES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12480" y="5989320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A0C0"/>
                </a:solidFill>
                <a:latin typeface="Inter"/>
              </a:rPr>
              <a:t>Walks, writes diary,
plans next wish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1828800"/>
            <a:ext cx="6400800" cy="6400800"/>
          </a:xfrm>
          <a:prstGeom prst="ellipse">
            <a:avLst/>
          </a:prstGeom>
          <a:solidFill>
            <a:srgbClr val="00D4FF"/>
            <a:alpha val="1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77826" y="707512"/>
            <a:ext cx="17921" cy="17921"/>
          </a:xfrm>
          <a:prstGeom prst="ellipse">
            <a:avLst/>
          </a:prstGeom>
          <a:solidFill>
            <a:srgbClr val="00D4FF"/>
            <a:alpha val="12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96075" y="6295335"/>
            <a:ext cx="26009" cy="26009"/>
          </a:xfrm>
          <a:prstGeom prst="ellipse">
            <a:avLst/>
          </a:prstGeom>
          <a:solidFill>
            <a:srgbClr val="FFFFFF"/>
            <a:alpha val="188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43038" y="1897489"/>
            <a:ext cx="13453" cy="13453"/>
          </a:xfrm>
          <a:prstGeom prst="ellipse">
            <a:avLst/>
          </a:prstGeom>
          <a:solidFill>
            <a:srgbClr val="00D4FF"/>
            <a:alpha val="18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07500" y="5684733"/>
            <a:ext cx="26133" cy="26133"/>
          </a:xfrm>
          <a:prstGeom prst="ellipse">
            <a:avLst/>
          </a:prstGeom>
          <a:solidFill>
            <a:srgbClr val="FFFFFF"/>
            <a:alpha val="17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777596" y="4299798"/>
            <a:ext cx="24637" cy="24637"/>
          </a:xfrm>
          <a:prstGeom prst="ellipse">
            <a:avLst/>
          </a:prstGeom>
          <a:solidFill>
            <a:srgbClr val="FFFFFF"/>
            <a:alpha val="45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7242" y="4154932"/>
            <a:ext cx="23434" cy="23434"/>
          </a:xfrm>
          <a:prstGeom prst="ellipse">
            <a:avLst/>
          </a:prstGeom>
          <a:solidFill>
            <a:srgbClr val="FFFFFF"/>
            <a:alpha val="17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73839" y="612736"/>
            <a:ext cx="28691" cy="28691"/>
          </a:xfrm>
          <a:prstGeom prst="ellipse">
            <a:avLst/>
          </a:prstGeom>
          <a:solidFill>
            <a:srgbClr val="FFFFFF"/>
            <a:alpha val="319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60504" y="6233032"/>
            <a:ext cx="21447" cy="21447"/>
          </a:xfrm>
          <a:prstGeom prst="ellipse">
            <a:avLst/>
          </a:prstGeom>
          <a:solidFill>
            <a:srgbClr val="FFFFFF"/>
            <a:alpha val="4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97920" y="2838841"/>
            <a:ext cx="21978" cy="21978"/>
          </a:xfrm>
          <a:prstGeom prst="ellipse">
            <a:avLst/>
          </a:prstGeom>
          <a:solidFill>
            <a:srgbClr val="FFFFFF"/>
            <a:alpha val="16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19827" y="5572758"/>
            <a:ext cx="10864" cy="10864"/>
          </a:xfrm>
          <a:prstGeom prst="ellipse">
            <a:avLst/>
          </a:prstGeom>
          <a:solidFill>
            <a:srgbClr val="00D4FF"/>
            <a:alpha val="35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18956" y="3666436"/>
            <a:ext cx="19424" cy="19424"/>
          </a:xfrm>
          <a:prstGeom prst="ellipse">
            <a:avLst/>
          </a:prstGeom>
          <a:solidFill>
            <a:srgbClr val="00D4FF"/>
            <a:alpha val="49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84372" y="2830945"/>
            <a:ext cx="14053" cy="14053"/>
          </a:xfrm>
          <a:prstGeom prst="ellipse">
            <a:avLst/>
          </a:prstGeom>
          <a:solidFill>
            <a:srgbClr val="FFFFFF"/>
            <a:alpha val="21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38180" y="5122532"/>
            <a:ext cx="16413" cy="16413"/>
          </a:xfrm>
          <a:prstGeom prst="ellipse">
            <a:avLst/>
          </a:prstGeom>
          <a:solidFill>
            <a:srgbClr val="FFFFFF"/>
            <a:alpha val="46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31110" y="422523"/>
            <a:ext cx="14577" cy="14577"/>
          </a:xfrm>
          <a:prstGeom prst="ellipse">
            <a:avLst/>
          </a:prstGeom>
          <a:solidFill>
            <a:srgbClr val="FFFFFF"/>
            <a:alpha val="34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94517" y="2270457"/>
            <a:ext cx="13550" cy="13550"/>
          </a:xfrm>
          <a:prstGeom prst="ellipse">
            <a:avLst/>
          </a:prstGeom>
          <a:solidFill>
            <a:srgbClr val="FFFFFF"/>
            <a:alpha val="1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1169" y="6144272"/>
            <a:ext cx="29094" cy="29094"/>
          </a:xfrm>
          <a:prstGeom prst="ellipse">
            <a:avLst/>
          </a:prstGeom>
          <a:solidFill>
            <a:srgbClr val="FFFFFF"/>
            <a:alpha val="48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1736" y="1981937"/>
            <a:ext cx="29320" cy="29320"/>
          </a:xfrm>
          <a:prstGeom prst="ellipse">
            <a:avLst/>
          </a:prstGeom>
          <a:solidFill>
            <a:srgbClr val="FFFFFF"/>
            <a:alpha val="26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500527" y="4255460"/>
            <a:ext cx="26358" cy="26358"/>
          </a:xfrm>
          <a:prstGeom prst="ellipse">
            <a:avLst/>
          </a:prstGeom>
          <a:solidFill>
            <a:srgbClr val="00D4FF"/>
            <a:alpha val="1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14846" y="935689"/>
            <a:ext cx="17632" cy="17632"/>
          </a:xfrm>
          <a:prstGeom prst="ellipse">
            <a:avLst/>
          </a:prstGeom>
          <a:solidFill>
            <a:srgbClr val="FFFFFF"/>
            <a:alpha val="23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558" y="307219"/>
            <a:ext cx="13391" cy="13391"/>
          </a:xfrm>
          <a:prstGeom prst="ellipse">
            <a:avLst/>
          </a:prstGeom>
          <a:solidFill>
            <a:srgbClr val="FFFFFF"/>
            <a:alpha val="24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39666" y="665926"/>
            <a:ext cx="29634" cy="29634"/>
          </a:xfrm>
          <a:prstGeom prst="ellipse">
            <a:avLst/>
          </a:prstGeom>
          <a:solidFill>
            <a:srgbClr val="FFFFFF"/>
            <a:alpha val="18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3449" y="379045"/>
            <a:ext cx="13373" cy="13373"/>
          </a:xfrm>
          <a:prstGeom prst="ellipse">
            <a:avLst/>
          </a:prstGeom>
          <a:solidFill>
            <a:srgbClr val="FFFFFF"/>
            <a:alpha val="1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8547" y="3364998"/>
            <a:ext cx="14981" cy="14981"/>
          </a:xfrm>
          <a:prstGeom prst="ellipse">
            <a:avLst/>
          </a:prstGeom>
          <a:solidFill>
            <a:srgbClr val="FFFFFF"/>
            <a:alpha val="1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52352" y="5306666"/>
            <a:ext cx="18186" cy="18186"/>
          </a:xfrm>
          <a:prstGeom prst="ellipse">
            <a:avLst/>
          </a:prstGeom>
          <a:solidFill>
            <a:srgbClr val="FFFFFF"/>
            <a:alpha val="291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48709" y="2816049"/>
            <a:ext cx="10737" cy="10737"/>
          </a:xfrm>
          <a:prstGeom prst="ellipse">
            <a:avLst/>
          </a:prstGeom>
          <a:solidFill>
            <a:srgbClr val="FFFFFF"/>
            <a:alpha val="19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42079" y="5699321"/>
            <a:ext cx="19971" cy="19971"/>
          </a:xfrm>
          <a:prstGeom prst="ellipse">
            <a:avLst/>
          </a:prstGeom>
          <a:solidFill>
            <a:srgbClr val="00D4FF"/>
            <a:alpha val="20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55134" y="1426913"/>
            <a:ext cx="14629" cy="14629"/>
          </a:xfrm>
          <a:prstGeom prst="ellipse">
            <a:avLst/>
          </a:prstGeom>
          <a:solidFill>
            <a:srgbClr val="FFFFFF"/>
            <a:alpha val="15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5113" y="6364451"/>
            <a:ext cx="21306" cy="21306"/>
          </a:xfrm>
          <a:prstGeom prst="ellipse">
            <a:avLst/>
          </a:prstGeom>
          <a:solidFill>
            <a:srgbClr val="FFFFFF"/>
            <a:alpha val="26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84133" y="4484950"/>
            <a:ext cx="25817" cy="25817"/>
          </a:xfrm>
          <a:prstGeom prst="ellipse">
            <a:avLst/>
          </a:prstGeom>
          <a:solidFill>
            <a:srgbClr val="FFFFFF"/>
            <a:alpha val="29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32713" y="1446498"/>
            <a:ext cx="27476" cy="27476"/>
          </a:xfrm>
          <a:prstGeom prst="ellipse">
            <a:avLst/>
          </a:prstGeom>
          <a:solidFill>
            <a:srgbClr val="FFFFFF"/>
            <a:alpha val="46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103597" y="4505081"/>
            <a:ext cx="25990" cy="25990"/>
          </a:xfrm>
          <a:prstGeom prst="ellipse">
            <a:avLst/>
          </a:prstGeom>
          <a:solidFill>
            <a:srgbClr val="FFFFFF"/>
            <a:alpha val="42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37506" y="4490153"/>
            <a:ext cx="23719" cy="23719"/>
          </a:xfrm>
          <a:prstGeom prst="ellipse">
            <a:avLst/>
          </a:prstGeom>
          <a:solidFill>
            <a:srgbClr val="00D4FF"/>
            <a:alpha val="46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658662" y="510101"/>
            <a:ext cx="29421" cy="29421"/>
          </a:xfrm>
          <a:prstGeom prst="ellipse">
            <a:avLst/>
          </a:prstGeom>
          <a:solidFill>
            <a:srgbClr val="FFFFFF"/>
            <a:alpha val="36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3066" y="6165134"/>
            <a:ext cx="12552" cy="12552"/>
          </a:xfrm>
          <a:prstGeom prst="ellipse">
            <a:avLst/>
          </a:prstGeom>
          <a:solidFill>
            <a:srgbClr val="FFFFFF"/>
            <a:alpha val="36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7391" y="1147107"/>
            <a:ext cx="22703" cy="22703"/>
          </a:xfrm>
          <a:prstGeom prst="ellipse">
            <a:avLst/>
          </a:prstGeom>
          <a:solidFill>
            <a:srgbClr val="FFFFFF"/>
            <a:alpha val="39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07564" y="1498757"/>
            <a:ext cx="10065" cy="10065"/>
          </a:xfrm>
          <a:prstGeom prst="ellipse">
            <a:avLst/>
          </a:prstGeom>
          <a:solidFill>
            <a:srgbClr val="FFFFFF"/>
            <a:alpha val="10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85089" y="794773"/>
            <a:ext cx="26197" cy="26197"/>
          </a:xfrm>
          <a:prstGeom prst="ellipse">
            <a:avLst/>
          </a:prstGeom>
          <a:solidFill>
            <a:srgbClr val="FFFFFF"/>
            <a:alpha val="45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712849" y="6026175"/>
            <a:ext cx="14033" cy="14033"/>
          </a:xfrm>
          <a:prstGeom prst="ellipse">
            <a:avLst/>
          </a:prstGeom>
          <a:solidFill>
            <a:srgbClr val="FFFFFF"/>
            <a:alpha val="23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871944" y="5305169"/>
            <a:ext cx="19430" cy="19430"/>
          </a:xfrm>
          <a:prstGeom prst="ellipse">
            <a:avLst/>
          </a:prstGeom>
          <a:solidFill>
            <a:srgbClr val="FFFFFF"/>
            <a:alpha val="1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16750" y="4076990"/>
            <a:ext cx="19776" cy="19776"/>
          </a:xfrm>
          <a:prstGeom prst="ellipse">
            <a:avLst/>
          </a:prstGeom>
          <a:solidFill>
            <a:srgbClr val="FFFFFF"/>
            <a:alpha val="34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91740" y="2486502"/>
            <a:ext cx="25351" cy="25351"/>
          </a:xfrm>
          <a:prstGeom prst="ellipse">
            <a:avLst/>
          </a:prstGeom>
          <a:solidFill>
            <a:srgbClr val="FFFFFF"/>
            <a:alpha val="10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12848" y="5675416"/>
            <a:ext cx="11702" cy="11702"/>
          </a:xfrm>
          <a:prstGeom prst="ellipse">
            <a:avLst/>
          </a:prstGeom>
          <a:solidFill>
            <a:srgbClr val="FFFFFF"/>
            <a:alpha val="25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99588" y="2133999"/>
            <a:ext cx="14674" cy="14674"/>
          </a:xfrm>
          <a:prstGeom prst="ellipse">
            <a:avLst/>
          </a:prstGeom>
          <a:solidFill>
            <a:srgbClr val="FFFFFF"/>
            <a:alpha val="48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59670" y="784905"/>
            <a:ext cx="22419" cy="22419"/>
          </a:xfrm>
          <a:prstGeom prst="ellipse">
            <a:avLst/>
          </a:prstGeom>
          <a:solidFill>
            <a:srgbClr val="FFFFFF"/>
            <a:alpha val="304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290625" y="5883093"/>
            <a:ext cx="25531" cy="25531"/>
          </a:xfrm>
          <a:prstGeom prst="ellipse">
            <a:avLst/>
          </a:prstGeom>
          <a:solidFill>
            <a:srgbClr val="00D4FF"/>
            <a:alpha val="4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87776" y="2073210"/>
            <a:ext cx="26728" cy="26728"/>
          </a:xfrm>
          <a:prstGeom prst="ellipse">
            <a:avLst/>
          </a:prstGeom>
          <a:solidFill>
            <a:srgbClr val="FFFFFF"/>
            <a:alpha val="41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40608" y="5995861"/>
            <a:ext cx="13527" cy="13527"/>
          </a:xfrm>
          <a:prstGeom prst="ellipse">
            <a:avLst/>
          </a:prstGeom>
          <a:solidFill>
            <a:srgbClr val="00D4FF"/>
            <a:alpha val="2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127923" y="3716096"/>
            <a:ext cx="28081" cy="28081"/>
          </a:xfrm>
          <a:prstGeom prst="ellipse">
            <a:avLst/>
          </a:prstGeom>
          <a:solidFill>
            <a:srgbClr val="FFFFFF"/>
            <a:alpha val="10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801579" y="3737256"/>
            <a:ext cx="19730" cy="19730"/>
          </a:xfrm>
          <a:prstGeom prst="ellipse">
            <a:avLst/>
          </a:prstGeom>
          <a:solidFill>
            <a:srgbClr val="FFFFFF"/>
            <a:alpha val="29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2720" y="1683235"/>
            <a:ext cx="26951" cy="26951"/>
          </a:xfrm>
          <a:prstGeom prst="ellipse">
            <a:avLst/>
          </a:prstGeom>
          <a:solidFill>
            <a:srgbClr val="00D4FF"/>
            <a:alpha val="40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18630" y="4297912"/>
            <a:ext cx="23534" cy="23534"/>
          </a:xfrm>
          <a:prstGeom prst="ellipse">
            <a:avLst/>
          </a:prstGeom>
          <a:solidFill>
            <a:srgbClr val="FFFFFF"/>
            <a:alpha val="2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28463" y="3202886"/>
            <a:ext cx="28228" cy="28228"/>
          </a:xfrm>
          <a:prstGeom prst="ellipse">
            <a:avLst/>
          </a:prstGeom>
          <a:solidFill>
            <a:srgbClr val="00D4FF"/>
            <a:alpha val="447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93027" y="4203950"/>
            <a:ext cx="18841" cy="18841"/>
          </a:xfrm>
          <a:prstGeom prst="ellipse">
            <a:avLst/>
          </a:prstGeom>
          <a:solidFill>
            <a:srgbClr val="00D4FF"/>
            <a:alpha val="40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15582" y="4540590"/>
            <a:ext cx="12665" cy="12665"/>
          </a:xfrm>
          <a:prstGeom prst="ellipse">
            <a:avLst/>
          </a:prstGeom>
          <a:solidFill>
            <a:srgbClr val="00D4FF"/>
            <a:alpha val="1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863352" y="1218451"/>
            <a:ext cx="28038" cy="28038"/>
          </a:xfrm>
          <a:prstGeom prst="ellipse">
            <a:avLst/>
          </a:prstGeom>
          <a:solidFill>
            <a:srgbClr val="00D4FF"/>
            <a:alpha val="33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72468" y="4257652"/>
            <a:ext cx="11869" cy="11869"/>
          </a:xfrm>
          <a:prstGeom prst="ellipse">
            <a:avLst/>
          </a:prstGeom>
          <a:solidFill>
            <a:srgbClr val="FFFFFF"/>
            <a:alpha val="47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90550" y="4486864"/>
            <a:ext cx="16533" cy="16533"/>
          </a:xfrm>
          <a:prstGeom prst="ellipse">
            <a:avLst/>
          </a:prstGeom>
          <a:solidFill>
            <a:srgbClr val="00D4FF"/>
            <a:alpha val="10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45052" y="6510931"/>
            <a:ext cx="26595" cy="26595"/>
          </a:xfrm>
          <a:prstGeom prst="ellipse">
            <a:avLst/>
          </a:prstGeom>
          <a:solidFill>
            <a:srgbClr val="FFFFFF"/>
            <a:alpha val="42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622738" y="1086758"/>
            <a:ext cx="21683" cy="21683"/>
          </a:xfrm>
          <a:prstGeom prst="ellipse">
            <a:avLst/>
          </a:prstGeom>
          <a:solidFill>
            <a:srgbClr val="FFFFFF"/>
            <a:alpha val="32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434732" y="5213807"/>
            <a:ext cx="29369" cy="29369"/>
          </a:xfrm>
          <a:prstGeom prst="ellipse">
            <a:avLst/>
          </a:prstGeom>
          <a:solidFill>
            <a:srgbClr val="00D4FF"/>
            <a:alpha val="36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JetBrains Mono"/>
              </a:rPr>
              <a:t>● PLANET B-612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0" y="27432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A0C0"/>
                </a:solidFill>
                <a:latin typeface="JetBrains Mono"/>
              </a:rPr>
              <a:t>THE EXPERIENCE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Inter"/>
              </a:rPr>
              <a:t>FOUR SURFACES, ONE WORLD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1143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E6E9F5"/>
                </a:solidFill>
                <a:latin typeface="Inter"/>
              </a:rPr>
              <a:t>Tend a planet. </a:t>
            </a:r>
            <a:r>
              <a:rPr sz="3600" b="1">
                <a:solidFill>
                  <a:srgbClr val="00D4FF"/>
                </a:solidFill>
                <a:latin typeface="Inter"/>
              </a:rPr>
              <a:t>Read a journal.</a:t>
            </a:r>
            <a:r>
              <a:rPr sz="3600" b="1">
                <a:solidFill>
                  <a:srgbClr val="E6E9F5"/>
                </a:solidFill>
                <a:latin typeface="Inter"/>
              </a:rPr>
              <a:t> Share a card.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2560320"/>
            <a:ext cx="5257800" cy="1874519"/>
          </a:xfrm>
          <a:prstGeom prst="roundRect">
            <a:avLst>
              <a:gd name="adj" fmla="val 5000"/>
            </a:avLst>
          </a:prstGeom>
          <a:solidFill>
            <a:srgbClr val="1216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400" y="272491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pple Color Emoji"/>
              </a:rPr>
              <a:t>🌍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17320" y="272491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Inter"/>
              </a:rPr>
              <a:t>3D Planet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324612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6E9F5"/>
                </a:solidFill>
                <a:latin typeface="Inter"/>
              </a:rPr>
              <a:t>A trackball-rotatable low-poly sphere. Every photo adds a unique 3D model — building, tree, fox, fish — anchored to a meaningful surface spot. Hover to preview, drag to rearrange.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4400" y="4069079"/>
            <a:ext cx="667512" cy="246888"/>
          </a:xfrm>
          <a:prstGeom prst="roundRect">
            <a:avLst>
              <a:gd name="adj" fmla="val 50000"/>
            </a:avLst>
          </a:prstGeom>
          <a:solidFill>
            <a:srgbClr val="062A3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4400" y="4069079"/>
            <a:ext cx="66751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  <a:latin typeface="Inter"/>
              </a:rPr>
              <a:t>Three.js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655064" y="4069079"/>
            <a:ext cx="1444752" cy="246888"/>
          </a:xfrm>
          <a:prstGeom prst="roundRect">
            <a:avLst>
              <a:gd name="adj" fmla="val 50000"/>
            </a:avLst>
          </a:prstGeom>
          <a:solidFill>
            <a:srgbClr val="062A3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655064" y="4069079"/>
            <a:ext cx="14447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  <a:latin typeface="Inter"/>
              </a:rPr>
              <a:t>20 model templates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172968" y="4069079"/>
            <a:ext cx="1677924" cy="246888"/>
          </a:xfrm>
          <a:prstGeom prst="roundRect">
            <a:avLst>
              <a:gd name="adj" fmla="val 50000"/>
            </a:avLst>
          </a:prstGeom>
          <a:solidFill>
            <a:srgbClr val="062A3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172968" y="4069079"/>
            <a:ext cx="167792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  <a:latin typeface="Inter"/>
              </a:rPr>
              <a:t>Non-overlap placement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09360" y="2560320"/>
            <a:ext cx="5257800" cy="1874519"/>
          </a:xfrm>
          <a:prstGeom prst="roundRect">
            <a:avLst>
              <a:gd name="adj" fmla="val 5000"/>
            </a:avLst>
          </a:prstGeom>
          <a:solidFill>
            <a:srgbClr val="1216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0" y="272491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pple Color Emoji"/>
              </a:rPr>
              <a:t>📷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86600" y="272491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Inter"/>
              </a:rPr>
              <a:t>Capture Modal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324612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6E9F5"/>
                </a:solidFill>
                <a:latin typeface="Inter"/>
              </a:rPr>
              <a:t>One FAB at center-bottom — the only input. Pick a photo + 3 quick context chips (time / weather / company). A robust fallback lets you manually categorize if Vision fails.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583680" y="4069079"/>
            <a:ext cx="900684" cy="246888"/>
          </a:xfrm>
          <a:prstGeom prst="roundRect">
            <a:avLst>
              <a:gd name="adj" fmla="val 50000"/>
            </a:avLst>
          </a:prstGeom>
          <a:solidFill>
            <a:srgbClr val="062A3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0" y="4069079"/>
            <a:ext cx="9006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  <a:latin typeface="Inter"/>
              </a:rPr>
              <a:t>Qwen-VL-Max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557516" y="4069079"/>
            <a:ext cx="1056132" cy="246888"/>
          </a:xfrm>
          <a:prstGeom prst="roundRect">
            <a:avLst>
              <a:gd name="adj" fmla="val 50000"/>
            </a:avLst>
          </a:prstGeom>
          <a:solidFill>
            <a:srgbClr val="062A3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557516" y="4069079"/>
            <a:ext cx="10561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  <a:latin typeface="Inter"/>
              </a:rPr>
              <a:t>Fuzzy de-dupe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686800" y="4069079"/>
            <a:ext cx="1211580" cy="246888"/>
          </a:xfrm>
          <a:prstGeom prst="roundRect">
            <a:avLst>
              <a:gd name="adj" fmla="val 50000"/>
            </a:avLst>
          </a:prstGeom>
          <a:solidFill>
            <a:srgbClr val="062A3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86800" y="4069079"/>
            <a:ext cx="12115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  <a:latin typeface="Inter"/>
              </a:rPr>
              <a:t>Cancel any time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0080" y="4572000"/>
            <a:ext cx="5257800" cy="1874519"/>
          </a:xfrm>
          <a:prstGeom prst="roundRect">
            <a:avLst>
              <a:gd name="adj" fmla="val 5000"/>
            </a:avLst>
          </a:prstGeom>
          <a:solidFill>
            <a:srgbClr val="1216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14400" y="47365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pple Color Emoji"/>
              </a:rPr>
              <a:t>🌱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17320" y="473659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Inter"/>
              </a:rPr>
              <a:t>Codex Gallery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" y="525780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6E9F5"/>
                </a:solidFill>
                <a:latin typeface="Inter"/>
              </a:rPr>
              <a:t>20 category tabs (Landmarks, Buildings, Sacred Sites, Cuisine, Wildlife…). Click a card → highlights its 3D twin on the planet. Hover the model → floating tooltip the other way.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14400" y="6080759"/>
            <a:ext cx="1133856" cy="246888"/>
          </a:xfrm>
          <a:prstGeom prst="roundRect">
            <a:avLst>
              <a:gd name="adj" fmla="val 50000"/>
            </a:avLst>
          </a:prstGeom>
          <a:solidFill>
            <a:srgbClr val="062A3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4400" y="6080759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  <a:latin typeface="Inter"/>
              </a:rPr>
              <a:t>Tabbed Pokédex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121408" y="6080759"/>
            <a:ext cx="978408" cy="246888"/>
          </a:xfrm>
          <a:prstGeom prst="roundRect">
            <a:avLst>
              <a:gd name="adj" fmla="val 50000"/>
            </a:avLst>
          </a:prstGeom>
          <a:solidFill>
            <a:srgbClr val="062A3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21408" y="6080759"/>
            <a:ext cx="97840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  <a:latin typeface="Inter"/>
              </a:rPr>
              <a:t>Newest first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172968" y="6080759"/>
            <a:ext cx="822960" cy="246888"/>
          </a:xfrm>
          <a:prstGeom prst="roundRect">
            <a:avLst>
              <a:gd name="adj" fmla="val 50000"/>
            </a:avLst>
          </a:prstGeom>
          <a:solidFill>
            <a:srgbClr val="062A3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72968" y="6080759"/>
            <a:ext cx="822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  <a:latin typeface="Inter"/>
              </a:rPr>
              <a:t>Cross-link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309360" y="4572000"/>
            <a:ext cx="5257800" cy="1874519"/>
          </a:xfrm>
          <a:prstGeom prst="roundRect">
            <a:avLst>
              <a:gd name="adj" fmla="val 5000"/>
            </a:avLst>
          </a:prstGeom>
          <a:solidFill>
            <a:srgbClr val="1216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583680" y="47365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pple Color Emoji"/>
              </a:rPr>
              <a:t>🦊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086600" y="473659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Inter"/>
              </a:rPr>
              <a:t>Fox Journal &amp; Share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583680" y="525780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6E9F5"/>
                </a:solidFill>
                <a:latin typeface="Inter"/>
              </a:rPr>
              <a:t>The fox writes Tabikaeru-style diary entries about your finds and its own little planet life. One-tap "Share Today" exports a 1080×1350 card with planet ID, level, and the day’s discoveries.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583680" y="6080759"/>
            <a:ext cx="1133856" cy="246888"/>
          </a:xfrm>
          <a:prstGeom prst="roundRect">
            <a:avLst>
              <a:gd name="adj" fmla="val 50000"/>
            </a:avLst>
          </a:prstGeom>
          <a:solidFill>
            <a:srgbClr val="062A3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583680" y="6080759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  <a:latin typeface="Inter"/>
              </a:rPr>
              <a:t>Tabikaeru loop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790688" y="6080759"/>
            <a:ext cx="1056132" cy="246888"/>
          </a:xfrm>
          <a:prstGeom prst="roundRect">
            <a:avLst>
              <a:gd name="adj" fmla="val 50000"/>
            </a:avLst>
          </a:prstGeom>
          <a:solidFill>
            <a:srgbClr val="062A3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790688" y="6080759"/>
            <a:ext cx="10561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  <a:latin typeface="Inter"/>
              </a:rPr>
              <a:t>Canvas export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919972" y="6080759"/>
            <a:ext cx="745236" cy="246888"/>
          </a:xfrm>
          <a:prstGeom prst="roundRect">
            <a:avLst>
              <a:gd name="adj" fmla="val 50000"/>
            </a:avLst>
          </a:prstGeom>
          <a:solidFill>
            <a:srgbClr val="062A3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19972" y="6080759"/>
            <a:ext cx="74523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  <a:latin typeface="Inter"/>
              </a:rPr>
              <a:t>Planet 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1828800"/>
            <a:ext cx="7315200" cy="6400800"/>
          </a:xfrm>
          <a:prstGeom prst="ellipse">
            <a:avLst/>
          </a:prstGeom>
          <a:solidFill>
            <a:srgbClr val="7C3AED"/>
            <a:alpha val="1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94227" y="5087175"/>
            <a:ext cx="25903" cy="25903"/>
          </a:xfrm>
          <a:prstGeom prst="ellipse">
            <a:avLst/>
          </a:prstGeom>
          <a:solidFill>
            <a:srgbClr val="FFFFFF"/>
            <a:alpha val="3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4705" y="198917"/>
            <a:ext cx="19312" cy="19312"/>
          </a:xfrm>
          <a:prstGeom prst="ellipse">
            <a:avLst/>
          </a:prstGeom>
          <a:solidFill>
            <a:srgbClr val="FFFFFF"/>
            <a:alpha val="35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3504" y="776366"/>
            <a:ext cx="19381" cy="19381"/>
          </a:xfrm>
          <a:prstGeom prst="ellipse">
            <a:avLst/>
          </a:prstGeom>
          <a:solidFill>
            <a:srgbClr val="00D4FF"/>
            <a:alpha val="31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997315" y="89937"/>
            <a:ext cx="14334" cy="14334"/>
          </a:xfrm>
          <a:prstGeom prst="ellipse">
            <a:avLst/>
          </a:prstGeom>
          <a:solidFill>
            <a:srgbClr val="00D4FF"/>
            <a:alpha val="4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35491" y="1094565"/>
            <a:ext cx="25942" cy="25942"/>
          </a:xfrm>
          <a:prstGeom prst="ellipse">
            <a:avLst/>
          </a:prstGeom>
          <a:solidFill>
            <a:srgbClr val="00D4FF"/>
            <a:alpha val="34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44678" y="12172"/>
            <a:ext cx="27428" cy="27428"/>
          </a:xfrm>
          <a:prstGeom prst="ellipse">
            <a:avLst/>
          </a:prstGeom>
          <a:solidFill>
            <a:srgbClr val="00D4FF"/>
            <a:alpha val="18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977378" y="5982972"/>
            <a:ext cx="15786" cy="15786"/>
          </a:xfrm>
          <a:prstGeom prst="ellipse">
            <a:avLst/>
          </a:prstGeom>
          <a:solidFill>
            <a:srgbClr val="FFFFFF"/>
            <a:alpha val="31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63902" y="1404377"/>
            <a:ext cx="28819" cy="28819"/>
          </a:xfrm>
          <a:prstGeom prst="ellipse">
            <a:avLst/>
          </a:prstGeom>
          <a:solidFill>
            <a:srgbClr val="FFFFFF"/>
            <a:alpha val="48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96225" y="2049094"/>
            <a:ext cx="17223" cy="17223"/>
          </a:xfrm>
          <a:prstGeom prst="ellipse">
            <a:avLst/>
          </a:prstGeom>
          <a:solidFill>
            <a:srgbClr val="00D4FF"/>
            <a:alpha val="15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4163" y="2066720"/>
            <a:ext cx="22062" cy="22062"/>
          </a:xfrm>
          <a:prstGeom prst="ellipse">
            <a:avLst/>
          </a:prstGeom>
          <a:solidFill>
            <a:srgbClr val="00D4FF"/>
            <a:alpha val="37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19535" y="2125691"/>
            <a:ext cx="26370" cy="26370"/>
          </a:xfrm>
          <a:prstGeom prst="ellipse">
            <a:avLst/>
          </a:prstGeom>
          <a:solidFill>
            <a:srgbClr val="FFFFFF"/>
            <a:alpha val="2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66867" y="4832620"/>
            <a:ext cx="11140" cy="11140"/>
          </a:xfrm>
          <a:prstGeom prst="ellipse">
            <a:avLst/>
          </a:prstGeom>
          <a:solidFill>
            <a:srgbClr val="FFFFFF"/>
            <a:alpha val="1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1272" y="5794193"/>
            <a:ext cx="10361" cy="10361"/>
          </a:xfrm>
          <a:prstGeom prst="ellipse">
            <a:avLst/>
          </a:prstGeom>
          <a:solidFill>
            <a:srgbClr val="FFFFFF"/>
            <a:alpha val="24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53125" y="62259"/>
            <a:ext cx="10934" cy="10934"/>
          </a:xfrm>
          <a:prstGeom prst="ellipse">
            <a:avLst/>
          </a:prstGeom>
          <a:solidFill>
            <a:srgbClr val="00D4FF"/>
            <a:alpha val="48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95932" y="5182840"/>
            <a:ext cx="28593" cy="28593"/>
          </a:xfrm>
          <a:prstGeom prst="ellipse">
            <a:avLst/>
          </a:prstGeom>
          <a:solidFill>
            <a:srgbClr val="FFFFFF"/>
            <a:alpha val="23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25530" y="3598405"/>
            <a:ext cx="25512" cy="25512"/>
          </a:xfrm>
          <a:prstGeom prst="ellipse">
            <a:avLst/>
          </a:prstGeom>
          <a:solidFill>
            <a:srgbClr val="00D4FF"/>
            <a:alpha val="39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19544" y="5895783"/>
            <a:ext cx="10732" cy="10732"/>
          </a:xfrm>
          <a:prstGeom prst="ellipse">
            <a:avLst/>
          </a:prstGeom>
          <a:solidFill>
            <a:srgbClr val="FFFFFF"/>
            <a:alpha val="13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54204" y="4189055"/>
            <a:ext cx="28361" cy="28361"/>
          </a:xfrm>
          <a:prstGeom prst="ellipse">
            <a:avLst/>
          </a:prstGeom>
          <a:solidFill>
            <a:srgbClr val="00D4FF"/>
            <a:alpha val="46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46229" y="2142784"/>
            <a:ext cx="16335" cy="16335"/>
          </a:xfrm>
          <a:prstGeom prst="ellipse">
            <a:avLst/>
          </a:prstGeom>
          <a:solidFill>
            <a:srgbClr val="00D4FF"/>
            <a:alpha val="13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14953" y="4726359"/>
            <a:ext cx="29934" cy="29934"/>
          </a:xfrm>
          <a:prstGeom prst="ellipse">
            <a:avLst/>
          </a:prstGeom>
          <a:solidFill>
            <a:srgbClr val="00D4FF"/>
            <a:alpha val="11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029534" y="3658953"/>
            <a:ext cx="18117" cy="18117"/>
          </a:xfrm>
          <a:prstGeom prst="ellipse">
            <a:avLst/>
          </a:prstGeom>
          <a:solidFill>
            <a:srgbClr val="00D4FF"/>
            <a:alpha val="3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73942" y="3124951"/>
            <a:ext cx="18435" cy="18435"/>
          </a:xfrm>
          <a:prstGeom prst="ellipse">
            <a:avLst/>
          </a:prstGeom>
          <a:solidFill>
            <a:srgbClr val="00D4FF"/>
            <a:alpha val="4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98927" y="3384863"/>
            <a:ext cx="26768" cy="26768"/>
          </a:xfrm>
          <a:prstGeom prst="ellipse">
            <a:avLst/>
          </a:prstGeom>
          <a:solidFill>
            <a:srgbClr val="00D4FF"/>
            <a:alpha val="39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9654" y="4323278"/>
            <a:ext cx="25760" cy="25760"/>
          </a:xfrm>
          <a:prstGeom prst="ellipse">
            <a:avLst/>
          </a:prstGeom>
          <a:solidFill>
            <a:srgbClr val="00D4FF"/>
            <a:alpha val="2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19553" y="5793185"/>
            <a:ext cx="15896" cy="15896"/>
          </a:xfrm>
          <a:prstGeom prst="ellipse">
            <a:avLst/>
          </a:prstGeom>
          <a:solidFill>
            <a:srgbClr val="FFFFFF"/>
            <a:alpha val="49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90404" y="6693459"/>
            <a:ext cx="19070" cy="19070"/>
          </a:xfrm>
          <a:prstGeom prst="ellipse">
            <a:avLst/>
          </a:prstGeom>
          <a:solidFill>
            <a:srgbClr val="FFFFFF"/>
            <a:alpha val="39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40339" y="1995833"/>
            <a:ext cx="18075" cy="18075"/>
          </a:xfrm>
          <a:prstGeom prst="ellipse">
            <a:avLst/>
          </a:prstGeom>
          <a:solidFill>
            <a:srgbClr val="00D4FF"/>
            <a:alpha val="2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050121" y="6582417"/>
            <a:ext cx="22539" cy="22539"/>
          </a:xfrm>
          <a:prstGeom prst="ellipse">
            <a:avLst/>
          </a:prstGeom>
          <a:solidFill>
            <a:srgbClr val="FFFFFF"/>
            <a:alpha val="23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86736" y="1867502"/>
            <a:ext cx="25640" cy="25640"/>
          </a:xfrm>
          <a:prstGeom prst="ellipse">
            <a:avLst/>
          </a:prstGeom>
          <a:solidFill>
            <a:srgbClr val="FFFFFF"/>
            <a:alpha val="2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2947" y="5314251"/>
            <a:ext cx="23891" cy="23891"/>
          </a:xfrm>
          <a:prstGeom prst="ellipse">
            <a:avLst/>
          </a:prstGeom>
          <a:solidFill>
            <a:srgbClr val="FFFFFF"/>
            <a:alpha val="40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30849" y="4831252"/>
            <a:ext cx="15617" cy="15617"/>
          </a:xfrm>
          <a:prstGeom prst="ellipse">
            <a:avLst/>
          </a:prstGeom>
          <a:solidFill>
            <a:srgbClr val="FFFFFF"/>
            <a:alpha val="40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23034" y="2015237"/>
            <a:ext cx="28910" cy="28910"/>
          </a:xfrm>
          <a:prstGeom prst="ellipse">
            <a:avLst/>
          </a:prstGeom>
          <a:solidFill>
            <a:srgbClr val="FFFFFF"/>
            <a:alpha val="33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41187" y="3751263"/>
            <a:ext cx="15013" cy="15013"/>
          </a:xfrm>
          <a:prstGeom prst="ellipse">
            <a:avLst/>
          </a:prstGeom>
          <a:solidFill>
            <a:srgbClr val="FFFFFF"/>
            <a:alpha val="2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56709" y="4440122"/>
            <a:ext cx="25952" cy="25952"/>
          </a:xfrm>
          <a:prstGeom prst="ellipse">
            <a:avLst/>
          </a:prstGeom>
          <a:solidFill>
            <a:srgbClr val="00D4FF"/>
            <a:alpha val="35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95366" y="5679717"/>
            <a:ext cx="17000" cy="17000"/>
          </a:xfrm>
          <a:prstGeom prst="ellipse">
            <a:avLst/>
          </a:prstGeom>
          <a:solidFill>
            <a:srgbClr val="FFFFFF"/>
            <a:alpha val="44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91994" y="6694245"/>
            <a:ext cx="29130" cy="29130"/>
          </a:xfrm>
          <a:prstGeom prst="ellipse">
            <a:avLst/>
          </a:prstGeom>
          <a:solidFill>
            <a:srgbClr val="FFFFFF"/>
            <a:alpha val="31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025925" y="5737541"/>
            <a:ext cx="28747" cy="28747"/>
          </a:xfrm>
          <a:prstGeom prst="ellipse">
            <a:avLst/>
          </a:prstGeom>
          <a:solidFill>
            <a:srgbClr val="FFFFFF"/>
            <a:alpha val="37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774198" y="5008763"/>
            <a:ext cx="13436" cy="13436"/>
          </a:xfrm>
          <a:prstGeom prst="ellipse">
            <a:avLst/>
          </a:prstGeom>
          <a:solidFill>
            <a:srgbClr val="FFFFFF"/>
            <a:alpha val="33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14258" y="2885791"/>
            <a:ext cx="22474" cy="22474"/>
          </a:xfrm>
          <a:prstGeom prst="ellipse">
            <a:avLst/>
          </a:prstGeom>
          <a:solidFill>
            <a:srgbClr val="FFFFFF"/>
            <a:alpha val="35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83073" y="189431"/>
            <a:ext cx="13200" cy="13200"/>
          </a:xfrm>
          <a:prstGeom prst="ellipse">
            <a:avLst/>
          </a:prstGeom>
          <a:solidFill>
            <a:srgbClr val="FFFFFF"/>
            <a:alpha val="36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670446" y="4704294"/>
            <a:ext cx="22617" cy="22617"/>
          </a:xfrm>
          <a:prstGeom prst="ellipse">
            <a:avLst/>
          </a:prstGeom>
          <a:solidFill>
            <a:srgbClr val="00D4FF"/>
            <a:alpha val="28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758280" y="371312"/>
            <a:ext cx="12670" cy="12670"/>
          </a:xfrm>
          <a:prstGeom prst="ellipse">
            <a:avLst/>
          </a:prstGeom>
          <a:solidFill>
            <a:srgbClr val="00D4FF"/>
            <a:alpha val="17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357387" y="244539"/>
            <a:ext cx="19306" cy="19306"/>
          </a:xfrm>
          <a:prstGeom prst="ellipse">
            <a:avLst/>
          </a:prstGeom>
          <a:solidFill>
            <a:srgbClr val="00D4FF"/>
            <a:alpha val="34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95104" y="1631150"/>
            <a:ext cx="28063" cy="28063"/>
          </a:xfrm>
          <a:prstGeom prst="ellipse">
            <a:avLst/>
          </a:prstGeom>
          <a:solidFill>
            <a:srgbClr val="00D4FF"/>
            <a:alpha val="26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395729" y="2812070"/>
            <a:ext cx="12301" cy="12301"/>
          </a:xfrm>
          <a:prstGeom prst="ellipse">
            <a:avLst/>
          </a:prstGeom>
          <a:solidFill>
            <a:srgbClr val="FFFFFF"/>
            <a:alpha val="24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39658" y="4207822"/>
            <a:ext cx="11896" cy="11896"/>
          </a:xfrm>
          <a:prstGeom prst="ellipse">
            <a:avLst/>
          </a:prstGeom>
          <a:solidFill>
            <a:srgbClr val="FFFFFF"/>
            <a:alpha val="23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082109" y="6572024"/>
            <a:ext cx="26370" cy="26370"/>
          </a:xfrm>
          <a:prstGeom prst="ellipse">
            <a:avLst/>
          </a:prstGeom>
          <a:solidFill>
            <a:srgbClr val="FFFFFF"/>
            <a:alpha val="4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830683" y="2533638"/>
            <a:ext cx="12842" cy="12842"/>
          </a:xfrm>
          <a:prstGeom prst="ellipse">
            <a:avLst/>
          </a:prstGeom>
          <a:solidFill>
            <a:srgbClr val="FFFFFF"/>
            <a:alpha val="3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670043" y="6638522"/>
            <a:ext cx="22172" cy="22172"/>
          </a:xfrm>
          <a:prstGeom prst="ellipse">
            <a:avLst/>
          </a:prstGeom>
          <a:solidFill>
            <a:srgbClr val="00D4FF"/>
            <a:alpha val="45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551" y="740103"/>
            <a:ext cx="21316" cy="21316"/>
          </a:xfrm>
          <a:prstGeom prst="ellipse">
            <a:avLst/>
          </a:prstGeom>
          <a:solidFill>
            <a:srgbClr val="FFFFFF"/>
            <a:alpha val="15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74139" y="6112410"/>
            <a:ext cx="17516" cy="17516"/>
          </a:xfrm>
          <a:prstGeom prst="ellipse">
            <a:avLst/>
          </a:prstGeom>
          <a:solidFill>
            <a:srgbClr val="FFFFFF"/>
            <a:alpha val="19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553813" y="6669093"/>
            <a:ext cx="17595" cy="17595"/>
          </a:xfrm>
          <a:prstGeom prst="ellipse">
            <a:avLst/>
          </a:prstGeom>
          <a:solidFill>
            <a:srgbClr val="FFFFFF"/>
            <a:alpha val="46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63933" y="1781877"/>
            <a:ext cx="29619" cy="29619"/>
          </a:xfrm>
          <a:prstGeom prst="ellipse">
            <a:avLst/>
          </a:prstGeom>
          <a:solidFill>
            <a:srgbClr val="FFFFFF"/>
            <a:alpha val="26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891010" y="6750168"/>
            <a:ext cx="19835" cy="19835"/>
          </a:xfrm>
          <a:prstGeom prst="ellipse">
            <a:avLst/>
          </a:prstGeom>
          <a:solidFill>
            <a:srgbClr val="00D4FF"/>
            <a:alpha val="29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485997" y="4263526"/>
            <a:ext cx="18869" cy="18869"/>
          </a:xfrm>
          <a:prstGeom prst="ellipse">
            <a:avLst/>
          </a:prstGeom>
          <a:solidFill>
            <a:srgbClr val="00D4FF"/>
            <a:alpha val="41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080158" y="90548"/>
            <a:ext cx="20651" cy="20651"/>
          </a:xfrm>
          <a:prstGeom prst="ellipse">
            <a:avLst/>
          </a:prstGeom>
          <a:solidFill>
            <a:srgbClr val="00D4FF"/>
            <a:alpha val="47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532774" y="1684737"/>
            <a:ext cx="15353" cy="15353"/>
          </a:xfrm>
          <a:prstGeom prst="ellipse">
            <a:avLst/>
          </a:prstGeom>
          <a:solidFill>
            <a:srgbClr val="00D4FF"/>
            <a:alpha val="49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574461" y="4169921"/>
            <a:ext cx="19492" cy="19492"/>
          </a:xfrm>
          <a:prstGeom prst="ellipse">
            <a:avLst/>
          </a:prstGeom>
          <a:solidFill>
            <a:srgbClr val="FFFFFF"/>
            <a:alpha val="34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064198" y="810471"/>
            <a:ext cx="25207" cy="25207"/>
          </a:xfrm>
          <a:prstGeom prst="ellipse">
            <a:avLst/>
          </a:prstGeom>
          <a:solidFill>
            <a:srgbClr val="00D4FF"/>
            <a:alpha val="31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97892" y="2035606"/>
            <a:ext cx="20597" cy="20597"/>
          </a:xfrm>
          <a:prstGeom prst="ellipse">
            <a:avLst/>
          </a:prstGeom>
          <a:solidFill>
            <a:srgbClr val="FFFFFF"/>
            <a:alpha val="24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JetBrains Mono"/>
              </a:rPr>
              <a:t>● PLANET B-612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0" y="27432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A0C0"/>
                </a:solidFill>
                <a:latin typeface="JetBrains Mono"/>
              </a:rPr>
              <a:t>ARCHITECTURE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Inter"/>
              </a:rPr>
              <a:t>AGENT HIERARCHY &amp; FLOW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1143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E6E9F5"/>
                </a:solidFill>
                <a:latin typeface="Inter"/>
              </a:rPr>
              <a:t>One router. </a:t>
            </a:r>
            <a:r>
              <a:rPr sz="3600" b="1">
                <a:solidFill>
                  <a:srgbClr val="00D4FF"/>
                </a:solidFill>
                <a:latin typeface="Inter"/>
              </a:rPr>
              <a:t>Two pipelines.</a:t>
            </a:r>
            <a:r>
              <a:rPr sz="3600" b="1">
                <a:solidFill>
                  <a:srgbClr val="E6E9F5"/>
                </a:solidFill>
                <a:latin typeface="Inter"/>
              </a:rPr>
              <a:t> One autonomous fox.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AA0C0"/>
                </a:solidFill>
                <a:latin typeface="Inter"/>
              </a:rPr>
              <a:t>A single Orchestrator sits between the user and every specialist. It dispatches each input into the right pipeline — identification or planning — while Fox Life runs in parallel as its own autonomous loop.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520440" y="29260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0A1028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20440" y="2926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E6E9F5"/>
                </a:solidFill>
                <a:latin typeface="Inter"/>
              </a:rPr>
              <a:t>👤  User · text / photo / tap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20440" y="3429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>
                <a:solidFill>
                  <a:srgbClr val="00D4FF"/>
                </a:solidFill>
                <a:latin typeface="Inter"/>
              </a:rPr>
              <a:t>▼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337560" y="370332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06334A"/>
          </a:solidFill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641848" y="3849624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38728" y="38130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ple Color Emoji"/>
              </a:rPr>
              <a:t>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38728" y="41605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Inter"/>
              </a:rPr>
              <a:t>Orchestrator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38728" y="4480560"/>
            <a:ext cx="219456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0C0"/>
                </a:solidFill>
                <a:latin typeface="Inter"/>
              </a:rPr>
              <a:t>Classifies intent (message / photo / task / landmark) and dispatches to one pipeline. Owns shared planet context.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37360" y="4709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Inter"/>
              </a:rPr>
              <a:t>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34840" y="4709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Inter"/>
              </a:rPr>
              <a:t>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4709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Inter"/>
              </a:rPr>
              <a:t>▼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0080" y="4983480"/>
            <a:ext cx="2560320" cy="1051560"/>
          </a:xfrm>
          <a:prstGeom prst="roundRect">
            <a:avLst>
              <a:gd name="adj" fmla="val 6000"/>
            </a:avLst>
          </a:prstGeom>
          <a:solidFill>
            <a:srgbClr val="141B3D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944368" y="5129784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248" y="50932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ple Color Emoji"/>
              </a:rPr>
              <a:t>👁️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8" y="54406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D4FF"/>
                </a:solidFill>
                <a:latin typeface="Inter"/>
              </a:rPr>
              <a:t>Vision</a:t>
            </a:r>
            <a:r>
              <a:rPr sz="850" b="0" i="0">
                <a:solidFill>
                  <a:srgbClr val="9AA0C0"/>
                </a:solidFill>
                <a:latin typeface="Inter"/>
              </a:rPr>
              <a:t> · photo pipeline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1248" y="576072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0C0"/>
                </a:solidFill>
                <a:latin typeface="Inter"/>
              </a:rPr>
              <a:t>Qwen-VL-Max → 1 of 20 categories + structured details. Receives existing codex for de-dupe.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337560" y="4983480"/>
            <a:ext cx="2560320" cy="1051560"/>
          </a:xfrm>
          <a:prstGeom prst="roundRect">
            <a:avLst>
              <a:gd name="adj" fmla="val 6000"/>
            </a:avLst>
          </a:prstGeom>
          <a:solidFill>
            <a:srgbClr val="141B3D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641848" y="5129784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38728" y="50932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ple Color Emoji"/>
              </a:rPr>
              <a:t>📖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38728" y="54406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D4FF"/>
                </a:solidFill>
                <a:latin typeface="Inter"/>
              </a:rPr>
              <a:t>Story</a:t>
            </a:r>
            <a:r>
              <a:rPr sz="850" b="0" i="0">
                <a:solidFill>
                  <a:srgbClr val="9AA0C0"/>
                </a:solidFill>
                <a:latin typeface="Inter"/>
              </a:rPr>
              <a:t> · enriches Vision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38728" y="576072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0C0"/>
                </a:solidFill>
                <a:latin typeface="Inter"/>
              </a:rPr>
              <a:t>Called by Orchestrator after Vision succeeds. Generates deep cultural / historical Insight in the fox's voice.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035040" y="4983480"/>
            <a:ext cx="2560320" cy="1051560"/>
          </a:xfrm>
          <a:prstGeom prst="roundRect">
            <a:avLst>
              <a:gd name="adj" fmla="val 6000"/>
            </a:avLst>
          </a:prstGeom>
          <a:solidFill>
            <a:srgbClr val="141B3D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339328" y="5129784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36208" y="50932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ple Color Emoji"/>
              </a:rPr>
              <a:t>✈️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36208" y="54406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D4FF"/>
                </a:solidFill>
                <a:latin typeface="Inter"/>
              </a:rPr>
              <a:t>Planner</a:t>
            </a:r>
            <a:r>
              <a:rPr sz="850" b="0" i="0">
                <a:solidFill>
                  <a:srgbClr val="9AA0C0"/>
                </a:solidFill>
                <a:latin typeface="Inter"/>
              </a:rPr>
              <a:t> · text pipeline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36208" y="576072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0C0"/>
                </a:solidFill>
                <a:latin typeface="Inter"/>
              </a:rPr>
              <a:t>SG local-guide brain. Builds 30-90 min quests grounded in time, weather, festivals — asks Sponsor.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32320" y="600760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D166"/>
                </a:solidFill>
                <a:latin typeface="Inter"/>
              </a:rPr>
              <a:t>▼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035040" y="6172200"/>
            <a:ext cx="2560320" cy="777240"/>
          </a:xfrm>
          <a:prstGeom prst="roundRect">
            <a:avLst>
              <a:gd name="adj" fmla="val 6000"/>
            </a:avLst>
          </a:prstGeom>
          <a:solidFill>
            <a:srgbClr val="2A210A"/>
          </a:solidFill>
          <a:ln w="952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339328" y="6318504"/>
            <a:ext cx="109728" cy="10972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36208" y="62819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ple Color Emoji"/>
              </a:rPr>
              <a:t>🎁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36208" y="66294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Inter"/>
              </a:rPr>
              <a:t>Sponsor</a:t>
            </a:r>
            <a:r>
              <a:rPr sz="850" b="0" i="0">
                <a:solidFill>
                  <a:srgbClr val="9AA0C0"/>
                </a:solidFill>
                <a:latin typeface="Inter"/>
              </a:rPr>
              <a:t> · sub-call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36208" y="6949440"/>
            <a:ext cx="2194560" cy="-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0C0"/>
                </a:solidFill>
                <a:latin typeface="Inter"/>
              </a:rPr>
              <a:t>Planner injects clearly-badged sponsored quests when keywords match (SuperAI / Tiger / Mr. Coconut).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006840" y="2194560"/>
            <a:ext cx="2788920" cy="3931920"/>
          </a:xfrm>
          <a:prstGeom prst="roundRect">
            <a:avLst>
              <a:gd name="adj" fmla="val 4000"/>
            </a:avLst>
          </a:prstGeom>
          <a:solidFill>
            <a:srgbClr val="1F1809"/>
          </a:solidFill>
          <a:ln w="952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9372600" y="20574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7091A"/>
          </a:solidFill>
          <a:ln w="9525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372600" y="20574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D166"/>
                </a:solidFill>
                <a:latin typeface="JetBrains Mono"/>
              </a:rPr>
              <a:t>AUTONOMOUS LOOP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35440" y="24231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pple Color Emoji"/>
              </a:rPr>
              <a:t>🦊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235440" y="28803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Inter"/>
              </a:rPr>
              <a:t>Fox Life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235440" y="324612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0C0"/>
                </a:solidFill>
                <a:latin typeface="Inter"/>
              </a:rPr>
              <a:t>Runs in its own timer-driven loop, independent of the Orchestrator. Picks activities based on bond level + current planet state.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235440" y="4389120"/>
            <a:ext cx="2331720" cy="1554480"/>
          </a:xfrm>
          <a:prstGeom prst="roundRect">
            <a:avLst>
              <a:gd name="adj" fmla="val 5000"/>
            </a:avLst>
          </a:prstGeom>
          <a:solidFill>
            <a:srgbClr val="050618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372600" y="4526280"/>
            <a:ext cx="21488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FFD166"/>
                </a:solidFill>
                <a:latin typeface="JetBrains Mono"/>
              </a:rPr>
              <a:t>every ~15 min  →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9AA0C0"/>
                </a:solidFill>
                <a:latin typeface="JetBrains Mono"/>
              </a:rPr>
              <a:t>pick activity  →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9AA0C0"/>
                </a:solidFill>
                <a:latin typeface="JetBrains Mono"/>
              </a:rPr>
              <a:t>write 60–110 word diary  →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9AA0C0"/>
                </a:solidFill>
                <a:latin typeface="JetBrains Mono"/>
              </a:rPr>
              <a:t>sometimes return with keepsake  →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9AA0C0"/>
                </a:solidFill>
                <a:latin typeface="JetBrains Mono"/>
              </a:rPr>
              <a:t>write back to planet context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" y="274320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9AA0C0"/>
                </a:solidFill>
                <a:latin typeface="JetBrains Mono"/>
              </a:rPr>
              <a:t>— TIER 0 · ENTRY 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0080" y="361188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9AA0C0"/>
                </a:solidFill>
                <a:latin typeface="JetBrains Mono"/>
              </a:rPr>
              <a:t>— TIER 1 · ROUTER —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" y="486460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9AA0C0"/>
                </a:solidFill>
                <a:latin typeface="JetBrains Mono"/>
              </a:rPr>
              <a:t>— TIER 2 · SPECIALISTS 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2743200"/>
            <a:ext cx="6400800" cy="7315200"/>
          </a:xfrm>
          <a:prstGeom prst="ellipse">
            <a:avLst/>
          </a:prstGeom>
          <a:solidFill>
            <a:srgbClr val="00D4FF"/>
            <a:alpha val="1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6400800" cy="6400800"/>
          </a:xfrm>
          <a:prstGeom prst="ellipse">
            <a:avLst/>
          </a:prstGeom>
          <a:solidFill>
            <a:srgbClr val="7C3AED"/>
            <a:alpha val="1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72160" y="5636960"/>
            <a:ext cx="19700" cy="19700"/>
          </a:xfrm>
          <a:prstGeom prst="ellipse">
            <a:avLst/>
          </a:prstGeom>
          <a:solidFill>
            <a:srgbClr val="00D4FF"/>
            <a:alpha val="10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80881" y="3225003"/>
            <a:ext cx="25194" cy="25194"/>
          </a:xfrm>
          <a:prstGeom prst="ellipse">
            <a:avLst/>
          </a:prstGeom>
          <a:solidFill>
            <a:srgbClr val="00D4FF"/>
            <a:alpha val="40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24651" y="5499536"/>
            <a:ext cx="24596" cy="24596"/>
          </a:xfrm>
          <a:prstGeom prst="ellipse">
            <a:avLst/>
          </a:prstGeom>
          <a:solidFill>
            <a:srgbClr val="FFFFFF"/>
            <a:alpha val="31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15366" y="1323490"/>
            <a:ext cx="21072" cy="21072"/>
          </a:xfrm>
          <a:prstGeom prst="ellipse">
            <a:avLst/>
          </a:prstGeom>
          <a:solidFill>
            <a:srgbClr val="FFFFFF"/>
            <a:alpha val="2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94384" y="4702461"/>
            <a:ext cx="26885" cy="26885"/>
          </a:xfrm>
          <a:prstGeom prst="ellipse">
            <a:avLst/>
          </a:prstGeom>
          <a:solidFill>
            <a:srgbClr val="00D4FF"/>
            <a:alpha val="13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56802" y="5519191"/>
            <a:ext cx="18904" cy="18904"/>
          </a:xfrm>
          <a:prstGeom prst="ellipse">
            <a:avLst/>
          </a:prstGeom>
          <a:solidFill>
            <a:srgbClr val="00D4FF"/>
            <a:alpha val="17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40736" y="1996936"/>
            <a:ext cx="29027" cy="29027"/>
          </a:xfrm>
          <a:prstGeom prst="ellipse">
            <a:avLst/>
          </a:prstGeom>
          <a:solidFill>
            <a:srgbClr val="FFFFFF"/>
            <a:alpha val="18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90485" y="2471483"/>
            <a:ext cx="28654" cy="28654"/>
          </a:xfrm>
          <a:prstGeom prst="ellipse">
            <a:avLst/>
          </a:prstGeom>
          <a:solidFill>
            <a:srgbClr val="FFFFFF"/>
            <a:alpha val="30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58422" y="4786269"/>
            <a:ext cx="26110" cy="26110"/>
          </a:xfrm>
          <a:prstGeom prst="ellipse">
            <a:avLst/>
          </a:prstGeom>
          <a:solidFill>
            <a:srgbClr val="FFFFFF"/>
            <a:alpha val="11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05791" y="4126782"/>
            <a:ext cx="16086" cy="16086"/>
          </a:xfrm>
          <a:prstGeom prst="ellipse">
            <a:avLst/>
          </a:prstGeom>
          <a:solidFill>
            <a:srgbClr val="FFFFFF"/>
            <a:alpha val="13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29652" y="3602254"/>
            <a:ext cx="12336" cy="12336"/>
          </a:xfrm>
          <a:prstGeom prst="ellipse">
            <a:avLst/>
          </a:prstGeom>
          <a:solidFill>
            <a:srgbClr val="FFFFFF"/>
            <a:alpha val="22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92304" y="3317518"/>
            <a:ext cx="12762" cy="12762"/>
          </a:xfrm>
          <a:prstGeom prst="ellipse">
            <a:avLst/>
          </a:prstGeom>
          <a:solidFill>
            <a:srgbClr val="00D4FF"/>
            <a:alpha val="44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12530" y="85880"/>
            <a:ext cx="25561" cy="25561"/>
          </a:xfrm>
          <a:prstGeom prst="ellipse">
            <a:avLst/>
          </a:prstGeom>
          <a:solidFill>
            <a:srgbClr val="00D4FF"/>
            <a:alpha val="23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26630" y="4253779"/>
            <a:ext cx="16122" cy="16122"/>
          </a:xfrm>
          <a:prstGeom prst="ellipse">
            <a:avLst/>
          </a:prstGeom>
          <a:solidFill>
            <a:srgbClr val="00D4FF"/>
            <a:alpha val="2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46330" y="6857167"/>
            <a:ext cx="11076" cy="11076"/>
          </a:xfrm>
          <a:prstGeom prst="ellipse">
            <a:avLst/>
          </a:prstGeom>
          <a:solidFill>
            <a:srgbClr val="FFFFFF"/>
            <a:alpha val="39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9420" y="6727516"/>
            <a:ext cx="14906" cy="14906"/>
          </a:xfrm>
          <a:prstGeom prst="ellipse">
            <a:avLst/>
          </a:prstGeom>
          <a:solidFill>
            <a:srgbClr val="FFFFFF"/>
            <a:alpha val="45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1082" y="6100277"/>
            <a:ext cx="18943" cy="18943"/>
          </a:xfrm>
          <a:prstGeom prst="ellipse">
            <a:avLst/>
          </a:prstGeom>
          <a:solidFill>
            <a:srgbClr val="FFFFFF"/>
            <a:alpha val="41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99286" y="3229636"/>
            <a:ext cx="24113" cy="24113"/>
          </a:xfrm>
          <a:prstGeom prst="ellipse">
            <a:avLst/>
          </a:prstGeom>
          <a:solidFill>
            <a:srgbClr val="FFFFFF"/>
            <a:alpha val="13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01294" y="1822991"/>
            <a:ext cx="19753" cy="19753"/>
          </a:xfrm>
          <a:prstGeom prst="ellipse">
            <a:avLst/>
          </a:prstGeom>
          <a:solidFill>
            <a:srgbClr val="FFFFFF"/>
            <a:alpha val="16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6673" y="846930"/>
            <a:ext cx="21788" cy="21788"/>
          </a:xfrm>
          <a:prstGeom prst="ellipse">
            <a:avLst/>
          </a:prstGeom>
          <a:solidFill>
            <a:srgbClr val="00D4FF"/>
            <a:alpha val="20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04955" y="6361460"/>
            <a:ext cx="15095" cy="15095"/>
          </a:xfrm>
          <a:prstGeom prst="ellipse">
            <a:avLst/>
          </a:prstGeom>
          <a:solidFill>
            <a:srgbClr val="FFFFFF"/>
            <a:alpha val="4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63477" y="1837515"/>
            <a:ext cx="19494" cy="19494"/>
          </a:xfrm>
          <a:prstGeom prst="ellipse">
            <a:avLst/>
          </a:prstGeom>
          <a:solidFill>
            <a:srgbClr val="FFFFFF"/>
            <a:alpha val="15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02098" y="2096309"/>
            <a:ext cx="26094" cy="26094"/>
          </a:xfrm>
          <a:prstGeom prst="ellipse">
            <a:avLst/>
          </a:prstGeom>
          <a:solidFill>
            <a:srgbClr val="00D4FF"/>
            <a:alpha val="36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35283" y="6330471"/>
            <a:ext cx="17520" cy="17520"/>
          </a:xfrm>
          <a:prstGeom prst="ellipse">
            <a:avLst/>
          </a:prstGeom>
          <a:solidFill>
            <a:srgbClr val="FFFFFF"/>
            <a:alpha val="22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5727" y="3346695"/>
            <a:ext cx="25868" cy="25868"/>
          </a:xfrm>
          <a:prstGeom prst="ellipse">
            <a:avLst/>
          </a:prstGeom>
          <a:solidFill>
            <a:srgbClr val="FFFFFF"/>
            <a:alpha val="21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494" y="3081692"/>
            <a:ext cx="11142" cy="11142"/>
          </a:xfrm>
          <a:prstGeom prst="ellipse">
            <a:avLst/>
          </a:prstGeom>
          <a:solidFill>
            <a:srgbClr val="00D4FF"/>
            <a:alpha val="40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67196" y="4927522"/>
            <a:ext cx="17240" cy="17240"/>
          </a:xfrm>
          <a:prstGeom prst="ellipse">
            <a:avLst/>
          </a:prstGeom>
          <a:solidFill>
            <a:srgbClr val="FFFFFF"/>
            <a:alpha val="44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9235" y="1321067"/>
            <a:ext cx="28947" cy="28947"/>
          </a:xfrm>
          <a:prstGeom prst="ellipse">
            <a:avLst/>
          </a:prstGeom>
          <a:solidFill>
            <a:srgbClr val="FFFFFF"/>
            <a:alpha val="26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37457" y="5579077"/>
            <a:ext cx="19833" cy="19833"/>
          </a:xfrm>
          <a:prstGeom prst="ellipse">
            <a:avLst/>
          </a:prstGeom>
          <a:solidFill>
            <a:srgbClr val="FFFFFF"/>
            <a:alpha val="140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13052" y="994126"/>
            <a:ext cx="22511" cy="22511"/>
          </a:xfrm>
          <a:prstGeom prst="ellipse">
            <a:avLst/>
          </a:prstGeom>
          <a:solidFill>
            <a:srgbClr val="FFFFFF"/>
            <a:alpha val="15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56474" y="667435"/>
            <a:ext cx="12108" cy="12108"/>
          </a:xfrm>
          <a:prstGeom prst="ellipse">
            <a:avLst/>
          </a:prstGeom>
          <a:solidFill>
            <a:srgbClr val="FFFFFF"/>
            <a:alpha val="28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67470" y="4315035"/>
            <a:ext cx="24027" cy="24027"/>
          </a:xfrm>
          <a:prstGeom prst="ellipse">
            <a:avLst/>
          </a:prstGeom>
          <a:solidFill>
            <a:srgbClr val="00D4FF"/>
            <a:alpha val="43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8537" y="4239078"/>
            <a:ext cx="28227" cy="28227"/>
          </a:xfrm>
          <a:prstGeom prst="ellipse">
            <a:avLst/>
          </a:prstGeom>
          <a:solidFill>
            <a:srgbClr val="FFFFFF"/>
            <a:alpha val="45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510449" y="4758083"/>
            <a:ext cx="25826" cy="25826"/>
          </a:xfrm>
          <a:prstGeom prst="ellipse">
            <a:avLst/>
          </a:prstGeom>
          <a:solidFill>
            <a:srgbClr val="00D4FF"/>
            <a:alpha val="4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079499" y="3023600"/>
            <a:ext cx="25569" cy="25569"/>
          </a:xfrm>
          <a:prstGeom prst="ellipse">
            <a:avLst/>
          </a:prstGeom>
          <a:solidFill>
            <a:srgbClr val="FFFFFF"/>
            <a:alpha val="21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86324" y="436649"/>
            <a:ext cx="26003" cy="26003"/>
          </a:xfrm>
          <a:prstGeom prst="ellipse">
            <a:avLst/>
          </a:prstGeom>
          <a:solidFill>
            <a:srgbClr val="FFFFFF"/>
            <a:alpha val="21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56186" y="573889"/>
            <a:ext cx="27161" cy="27161"/>
          </a:xfrm>
          <a:prstGeom prst="ellipse">
            <a:avLst/>
          </a:prstGeom>
          <a:solidFill>
            <a:srgbClr val="00D4FF"/>
            <a:alpha val="4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250922" y="6324193"/>
            <a:ext cx="10638" cy="10638"/>
          </a:xfrm>
          <a:prstGeom prst="ellipse">
            <a:avLst/>
          </a:prstGeom>
          <a:solidFill>
            <a:srgbClr val="00D4FF"/>
            <a:alpha val="4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785282" y="3672466"/>
            <a:ext cx="10654" cy="10654"/>
          </a:xfrm>
          <a:prstGeom prst="ellipse">
            <a:avLst/>
          </a:prstGeom>
          <a:solidFill>
            <a:srgbClr val="00D4FF"/>
            <a:alpha val="24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4771" y="6810269"/>
            <a:ext cx="25303" cy="25303"/>
          </a:xfrm>
          <a:prstGeom prst="ellipse">
            <a:avLst/>
          </a:prstGeom>
          <a:solidFill>
            <a:srgbClr val="FFFFFF"/>
            <a:alpha val="38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87580" y="532145"/>
            <a:ext cx="24630" cy="24630"/>
          </a:xfrm>
          <a:prstGeom prst="ellipse">
            <a:avLst/>
          </a:prstGeom>
          <a:solidFill>
            <a:srgbClr val="00D4FF"/>
            <a:alpha val="31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657568" y="3391491"/>
            <a:ext cx="11503" cy="11503"/>
          </a:xfrm>
          <a:prstGeom prst="ellipse">
            <a:avLst/>
          </a:prstGeom>
          <a:solidFill>
            <a:srgbClr val="00D4FF"/>
            <a:alpha val="3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71550" y="3603351"/>
            <a:ext cx="13006" cy="13006"/>
          </a:xfrm>
          <a:prstGeom prst="ellipse">
            <a:avLst/>
          </a:prstGeom>
          <a:solidFill>
            <a:srgbClr val="00D4FF"/>
            <a:alpha val="1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30208" y="2663024"/>
            <a:ext cx="14461" cy="14461"/>
          </a:xfrm>
          <a:prstGeom prst="ellipse">
            <a:avLst/>
          </a:prstGeom>
          <a:solidFill>
            <a:srgbClr val="00D4FF"/>
            <a:alpha val="32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101518" y="2874401"/>
            <a:ext cx="13263" cy="13263"/>
          </a:xfrm>
          <a:prstGeom prst="ellipse">
            <a:avLst/>
          </a:prstGeom>
          <a:solidFill>
            <a:srgbClr val="00D4FF"/>
            <a:alpha val="19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978078" y="5393255"/>
            <a:ext cx="21378" cy="21378"/>
          </a:xfrm>
          <a:prstGeom prst="ellipse">
            <a:avLst/>
          </a:prstGeom>
          <a:solidFill>
            <a:srgbClr val="00D4FF"/>
            <a:alpha val="2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646023" y="3023990"/>
            <a:ext cx="17950" cy="17950"/>
          </a:xfrm>
          <a:prstGeom prst="ellipse">
            <a:avLst/>
          </a:prstGeom>
          <a:solidFill>
            <a:srgbClr val="FFFFFF"/>
            <a:alpha val="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071817" y="4912882"/>
            <a:ext cx="22902" cy="22902"/>
          </a:xfrm>
          <a:prstGeom prst="ellipse">
            <a:avLst/>
          </a:prstGeom>
          <a:solidFill>
            <a:srgbClr val="FFFFFF"/>
            <a:alpha val="24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126488" y="6669972"/>
            <a:ext cx="13282" cy="13282"/>
          </a:xfrm>
          <a:prstGeom prst="ellipse">
            <a:avLst/>
          </a:prstGeom>
          <a:solidFill>
            <a:srgbClr val="FFFFFF"/>
            <a:alpha val="25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4513" y="273438"/>
            <a:ext cx="25179" cy="25179"/>
          </a:xfrm>
          <a:prstGeom prst="ellipse">
            <a:avLst/>
          </a:prstGeom>
          <a:solidFill>
            <a:srgbClr val="00D4FF"/>
            <a:alpha val="38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220952" y="2521106"/>
            <a:ext cx="10643" cy="10643"/>
          </a:xfrm>
          <a:prstGeom prst="ellipse">
            <a:avLst/>
          </a:prstGeom>
          <a:solidFill>
            <a:srgbClr val="FFFFFF"/>
            <a:alpha val="41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750181" y="3876872"/>
            <a:ext cx="28445" cy="28445"/>
          </a:xfrm>
          <a:prstGeom prst="ellipse">
            <a:avLst/>
          </a:prstGeom>
          <a:solidFill>
            <a:srgbClr val="00D4FF"/>
            <a:alpha val="28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828595" y="5926841"/>
            <a:ext cx="13372" cy="13372"/>
          </a:xfrm>
          <a:prstGeom prst="ellipse">
            <a:avLst/>
          </a:prstGeom>
          <a:solidFill>
            <a:srgbClr val="FFFFFF"/>
            <a:alpha val="14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368196" y="6743119"/>
            <a:ext cx="11000" cy="11000"/>
          </a:xfrm>
          <a:prstGeom prst="ellipse">
            <a:avLst/>
          </a:prstGeom>
          <a:solidFill>
            <a:srgbClr val="FFFFFF"/>
            <a:alpha val="4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40816" y="5002500"/>
            <a:ext cx="23019" cy="23019"/>
          </a:xfrm>
          <a:prstGeom prst="ellipse">
            <a:avLst/>
          </a:prstGeom>
          <a:solidFill>
            <a:srgbClr val="00D4FF"/>
            <a:alpha val="2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464449" y="5892873"/>
            <a:ext cx="25576" cy="25576"/>
          </a:xfrm>
          <a:prstGeom prst="ellipse">
            <a:avLst/>
          </a:prstGeom>
          <a:solidFill>
            <a:srgbClr val="FFFFFF"/>
            <a:alpha val="18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220058" y="1748400"/>
            <a:ext cx="25810" cy="25810"/>
          </a:xfrm>
          <a:prstGeom prst="ellipse">
            <a:avLst/>
          </a:prstGeom>
          <a:solidFill>
            <a:srgbClr val="FFFFFF"/>
            <a:alpha val="49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634090" y="4690107"/>
            <a:ext cx="25540" cy="25540"/>
          </a:xfrm>
          <a:prstGeom prst="ellipse">
            <a:avLst/>
          </a:prstGeom>
          <a:solidFill>
            <a:srgbClr val="00D4FF"/>
            <a:alpha val="33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99170" y="2517849"/>
            <a:ext cx="12342" cy="12342"/>
          </a:xfrm>
          <a:prstGeom prst="ellipse">
            <a:avLst/>
          </a:prstGeom>
          <a:solidFill>
            <a:srgbClr val="FFFFFF"/>
            <a:alpha val="1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232412" y="6500583"/>
            <a:ext cx="18712" cy="18712"/>
          </a:xfrm>
          <a:prstGeom prst="ellipse">
            <a:avLst/>
          </a:prstGeom>
          <a:solidFill>
            <a:srgbClr val="FFFFFF"/>
            <a:alpha val="12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JetBrains Mono"/>
              </a:rPr>
              <a:t>● PLANET B-612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78240" y="27432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A0C0"/>
                </a:solidFill>
                <a:latin typeface="JetBrains Mono"/>
              </a:rPr>
              <a:t>PROBLEMS &amp; SOLUTIONS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Inter"/>
              </a:rPr>
              <a:t>PROBLEMS WE HIT · HOW WE FIXED THEM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1143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E6E9F5"/>
                </a:solidFill>
                <a:latin typeface="Inter"/>
              </a:rPr>
              <a:t>Six hard problems. </a:t>
            </a:r>
            <a:r>
              <a:rPr sz="3600" b="1">
                <a:solidFill>
                  <a:srgbClr val="00D4FF"/>
                </a:solidFill>
                <a:latin typeface="Inter"/>
              </a:rPr>
              <a:t>Six shipped fixes.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2194560"/>
            <a:ext cx="3611880" cy="1691640"/>
          </a:xfrm>
          <a:prstGeom prst="roundRect">
            <a:avLst>
              <a:gd name="adj" fmla="val 5000"/>
            </a:avLst>
          </a:prstGeom>
          <a:solidFill>
            <a:srgbClr val="1216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" y="23042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ple Color Emoji"/>
              </a:rPr>
              <a:t>🐛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53312" y="23042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0D4FF"/>
                </a:solidFill>
                <a:latin typeface="Inter"/>
              </a:rPr>
              <a:t>Laksa → "landmark"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274320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6B8A"/>
                </a:solidFill>
                <a:latin typeface="JetBrains Mono"/>
              </a:rPr>
              <a:t>Problem  </a:t>
            </a:r>
            <a:r>
              <a:rPr sz="900" b="0" i="0">
                <a:solidFill>
                  <a:srgbClr val="E6E9F5"/>
                </a:solidFill>
                <a:latin typeface="Inter"/>
              </a:rPr>
              <a:t>Vision mis-classified hawker food as buildings, then UI silently showed fake fallback data.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" y="32461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FF88"/>
                </a:solidFill>
                <a:latin typeface="JetBrains Mono"/>
              </a:rPr>
              <a:t>Fix  </a:t>
            </a:r>
            <a:r>
              <a:rPr sz="900" b="0" i="0">
                <a:solidFill>
                  <a:srgbClr val="E6E9F5"/>
                </a:solidFill>
                <a:latin typeface="Inter"/>
              </a:rPr>
              <a:t>Negative-constraint prompt with food examples; on failure show "AI couldn't read this" + Retry / Manual buttons — never fake.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34840" y="2194560"/>
            <a:ext cx="3611880" cy="1691640"/>
          </a:xfrm>
          <a:prstGeom prst="roundRect">
            <a:avLst>
              <a:gd name="adj" fmla="val 5000"/>
            </a:avLst>
          </a:prstGeom>
          <a:solidFill>
            <a:srgbClr val="1216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63440" y="23042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ple Color Emoji"/>
              </a:rPr>
              <a:t>⏱️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48072" y="23042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0D4FF"/>
                </a:solidFill>
                <a:latin typeface="Inter"/>
              </a:rPr>
              <a:t>2-minute API hangs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63440" y="274320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6B8A"/>
                </a:solidFill>
                <a:latin typeface="JetBrains Mono"/>
              </a:rPr>
              <a:t>Problem  </a:t>
            </a:r>
            <a:r>
              <a:rPr sz="900" b="0" i="0">
                <a:solidFill>
                  <a:srgbClr val="E6E9F5"/>
                </a:solidFill>
                <a:latin typeface="Inter"/>
              </a:rPr>
              <a:t>Server logs showed Qwen calls aborting at ~30 ms — wrong req.on('close') handler killed every request.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63440" y="32461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FF88"/>
                </a:solidFill>
                <a:latin typeface="JetBrains Mono"/>
              </a:rPr>
              <a:t>Fix  </a:t>
            </a:r>
            <a:r>
              <a:rPr sz="900" b="0" i="0">
                <a:solidFill>
                  <a:srgbClr val="E6E9F5"/>
                </a:solidFill>
                <a:latin typeface="Inter"/>
              </a:rPr>
              <a:t>Swapped to res.on('close'), added 50s server timeout + 60s client timeout + true Cancel button.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229600" y="2194560"/>
            <a:ext cx="3611880" cy="1691640"/>
          </a:xfrm>
          <a:prstGeom prst="roundRect">
            <a:avLst>
              <a:gd name="adj" fmla="val 5000"/>
            </a:avLst>
          </a:prstGeom>
          <a:solidFill>
            <a:srgbClr val="1216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58200" y="23042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ple Color Emoji"/>
              </a:rPr>
              <a:t>🌍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42832" y="23042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0D4FF"/>
                </a:solidFill>
                <a:latin typeface="Inter"/>
              </a:rPr>
              <a:t>Models stacking on each other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58200" y="274320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6B8A"/>
                </a:solidFill>
                <a:latin typeface="JetBrains Mono"/>
              </a:rPr>
              <a:t>Problem  </a:t>
            </a:r>
            <a:r>
              <a:rPr sz="900" b="0" i="0">
                <a:solidFill>
                  <a:srgbClr val="E6E9F5"/>
                </a:solidFill>
                <a:latin typeface="Inter"/>
              </a:rPr>
              <a:t>New items spawned on top of existing landmarks — a pile, not a planet.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58200" y="32461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FF88"/>
                </a:solidFill>
                <a:latin typeface="JetBrains Mono"/>
              </a:rPr>
              <a:t>Fix  </a:t>
            </a:r>
            <a:r>
              <a:rPr sz="900" b="0" i="0">
                <a:solidFill>
                  <a:srgbClr val="E6E9F5"/>
                </a:solidFill>
                <a:latin typeface="Inter"/>
              </a:rPr>
              <a:t>Spherical spiral search using great-circle distance picks the nearest free spot — guaranteed non-overlap.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0080" y="4050792"/>
            <a:ext cx="3611880" cy="1691640"/>
          </a:xfrm>
          <a:prstGeom prst="roundRect">
            <a:avLst>
              <a:gd name="adj" fmla="val 5000"/>
            </a:avLst>
          </a:prstGeom>
          <a:solidFill>
            <a:srgbClr val="1216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68680" y="4160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ple Color Emoji"/>
              </a:rPr>
              <a:t>🧭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53312" y="4160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0D4FF"/>
                </a:solidFill>
                <a:latin typeface="Inter"/>
              </a:rPr>
              <a:t>Buildings tilted on the sphere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" y="459943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6B8A"/>
                </a:solidFill>
                <a:latin typeface="JetBrains Mono"/>
              </a:rPr>
              <a:t>Problem  </a:t>
            </a:r>
            <a:r>
              <a:rPr sz="900" b="0" i="0">
                <a:solidFill>
                  <a:srgbClr val="E6E9F5"/>
                </a:solidFill>
                <a:latin typeface="Inter"/>
              </a:rPr>
              <a:t>Models leaned at random Y-angles after placement; flagpoles aimed anywhere.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8680" y="510235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FF88"/>
                </a:solidFill>
                <a:latin typeface="JetBrains Mono"/>
              </a:rPr>
              <a:t>Fix  </a:t>
            </a:r>
            <a:r>
              <a:rPr sz="900" b="0" i="0">
                <a:solidFill>
                  <a:srgbClr val="E6E9F5"/>
                </a:solidFill>
                <a:latin typeface="Inter"/>
              </a:rPr>
              <a:t>Build orthonormal basis per spot (radial-up / world-north / east) → quaternion. Upright everywhere.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434840" y="4050792"/>
            <a:ext cx="3611880" cy="1691640"/>
          </a:xfrm>
          <a:prstGeom prst="roundRect">
            <a:avLst>
              <a:gd name="adj" fmla="val 5000"/>
            </a:avLst>
          </a:prstGeom>
          <a:solidFill>
            <a:srgbClr val="1216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63440" y="4160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ple Color Emoji"/>
              </a:rPr>
              <a:t>♻️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48072" y="4160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0D4FF"/>
                </a:solidFill>
                <a:latin typeface="Inter"/>
              </a:rPr>
              <a:t>"Kaya Toast" ≠ "咖椰吐司"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63440" y="459943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6B8A"/>
                </a:solidFill>
                <a:latin typeface="JetBrains Mono"/>
              </a:rPr>
              <a:t>Problem  </a:t>
            </a:r>
            <a:r>
              <a:rPr sz="900" b="0" i="0">
                <a:solidFill>
                  <a:srgbClr val="E6E9F5"/>
                </a:solidFill>
                <a:latin typeface="Inter"/>
              </a:rPr>
              <a:t>AI returned slightly different names for the same dish → duplicates in the codex.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63440" y="510235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FF88"/>
                </a:solidFill>
                <a:latin typeface="JetBrains Mono"/>
              </a:rPr>
              <a:t>Fix  </a:t>
            </a:r>
            <a:r>
              <a:rPr sz="900" b="0" i="0">
                <a:solidFill>
                  <a:srgbClr val="E6E9F5"/>
                </a:solidFill>
                <a:latin typeface="Inter"/>
              </a:rPr>
              <a:t>Pass existing codex into Vision prompt + fuzzy normalize (strip punctuation, prefixes) before dedupe.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229600" y="4050792"/>
            <a:ext cx="3611880" cy="1691640"/>
          </a:xfrm>
          <a:prstGeom prst="roundRect">
            <a:avLst>
              <a:gd name="adj" fmla="val 5000"/>
            </a:avLst>
          </a:prstGeom>
          <a:solidFill>
            <a:srgbClr val="1216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58200" y="4160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ple Color Emoji"/>
              </a:rPr>
              <a:t>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42832" y="4160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0D4FF"/>
                </a:solidFill>
                <a:latin typeface="Inter"/>
              </a:rPr>
              <a:t>Highlight hidden by modal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58200" y="459943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6B8A"/>
                </a:solidFill>
                <a:latin typeface="JetBrains Mono"/>
              </a:rPr>
              <a:t>Problem  </a:t>
            </a:r>
            <a:r>
              <a:rPr sz="900" b="0" i="0">
                <a:solidFill>
                  <a:srgbClr val="E6E9F5"/>
                </a:solidFill>
                <a:latin typeface="Inter"/>
              </a:rPr>
              <a:t>Clicking a codex card highlighted the 3D model, but the full-screen detail modal covered the planet.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58200" y="510235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FF88"/>
                </a:solidFill>
                <a:latin typeface="JetBrains Mono"/>
              </a:rPr>
              <a:t>Fix  </a:t>
            </a:r>
            <a:r>
              <a:rPr sz="900" b="0" i="0">
                <a:solidFill>
                  <a:srgbClr val="E6E9F5"/>
                </a:solidFill>
                <a:latin typeface="Inter"/>
              </a:rPr>
              <a:t>Right-docked the modal, lowered overlay opacity, added halo + floating arrow mesh on top.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40080" y="5943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14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0080" y="59436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JetBrains Mono"/>
              </a:rPr>
              <a:t>Three.js r128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286000" y="59436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E14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286000" y="5943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JetBrains Mono"/>
              </a:rPr>
              <a:t>Qwen-VL-Max  ·  vision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754880" y="594360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0E14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54880" y="59436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JetBrains Mono"/>
              </a:rPr>
              <a:t>Qwen-Max  ·  planner / story / fox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321040" y="594360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0E14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21040" y="59436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9AA0C0"/>
                </a:solidFill>
                <a:latin typeface="JetBrains Mono"/>
              </a:rPr>
              <a:t>Vanilla JS  ·  no framework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1247120" y="5943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E14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247120" y="59436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9AA0C0"/>
                </a:solidFill>
                <a:latin typeface="JetBrains Mono"/>
              </a:rPr>
              <a:t>Express proxy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2893040" y="594360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0E14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2893040" y="59436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9AA0C0"/>
                </a:solidFill>
                <a:latin typeface="JetBrains Mono"/>
              </a:rPr>
              <a:t>localStorage  ·  zero infra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-1828800"/>
            <a:ext cx="8229600" cy="8229600"/>
          </a:xfrm>
          <a:prstGeom prst="ellipse">
            <a:avLst/>
          </a:prstGeom>
          <a:solidFill>
            <a:srgbClr val="7C3AED"/>
            <a:alpha val="1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6400800" cy="6400800"/>
          </a:xfrm>
          <a:prstGeom prst="ellipse">
            <a:avLst/>
          </a:prstGeom>
          <a:solidFill>
            <a:srgbClr val="00D4FF"/>
            <a:alpha val="1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948070" y="1034523"/>
            <a:ext cx="23018" cy="23018"/>
          </a:xfrm>
          <a:prstGeom prst="ellipse">
            <a:avLst/>
          </a:prstGeom>
          <a:solidFill>
            <a:srgbClr val="00D4FF"/>
            <a:alpha val="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458367" y="397756"/>
            <a:ext cx="20148" cy="20148"/>
          </a:xfrm>
          <a:prstGeom prst="ellipse">
            <a:avLst/>
          </a:prstGeom>
          <a:solidFill>
            <a:srgbClr val="00D4FF"/>
            <a:alpha val="27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1656" y="622109"/>
            <a:ext cx="18490" cy="18490"/>
          </a:xfrm>
          <a:prstGeom prst="ellipse">
            <a:avLst/>
          </a:prstGeom>
          <a:solidFill>
            <a:srgbClr val="FFFFFF"/>
            <a:alpha val="14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21661" y="4302937"/>
            <a:ext cx="28954" cy="28954"/>
          </a:xfrm>
          <a:prstGeom prst="ellipse">
            <a:avLst/>
          </a:prstGeom>
          <a:solidFill>
            <a:srgbClr val="FFFFFF"/>
            <a:alpha val="25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902204" y="319464"/>
            <a:ext cx="27169" cy="27169"/>
          </a:xfrm>
          <a:prstGeom prst="ellipse">
            <a:avLst/>
          </a:prstGeom>
          <a:solidFill>
            <a:srgbClr val="00D4FF"/>
            <a:alpha val="15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36087" y="2115568"/>
            <a:ext cx="26322" cy="26322"/>
          </a:xfrm>
          <a:prstGeom prst="ellipse">
            <a:avLst/>
          </a:prstGeom>
          <a:solidFill>
            <a:srgbClr val="00D4FF"/>
            <a:alpha val="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89438" y="2553902"/>
            <a:ext cx="20954" cy="20954"/>
          </a:xfrm>
          <a:prstGeom prst="ellipse">
            <a:avLst/>
          </a:prstGeom>
          <a:solidFill>
            <a:srgbClr val="00D4FF"/>
            <a:alpha val="12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10985" y="4666183"/>
            <a:ext cx="18551" cy="18551"/>
          </a:xfrm>
          <a:prstGeom prst="ellipse">
            <a:avLst/>
          </a:prstGeom>
          <a:solidFill>
            <a:srgbClr val="00D4FF"/>
            <a:alpha val="33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25085" y="2055802"/>
            <a:ext cx="25887" cy="25887"/>
          </a:xfrm>
          <a:prstGeom prst="ellipse">
            <a:avLst/>
          </a:prstGeom>
          <a:solidFill>
            <a:srgbClr val="FFFFFF"/>
            <a:alpha val="19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03198" y="3601797"/>
            <a:ext cx="27502" cy="27502"/>
          </a:xfrm>
          <a:prstGeom prst="ellipse">
            <a:avLst/>
          </a:prstGeom>
          <a:solidFill>
            <a:srgbClr val="FFFFFF"/>
            <a:alpha val="21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49992" y="809695"/>
            <a:ext cx="18362" cy="18362"/>
          </a:xfrm>
          <a:prstGeom prst="ellipse">
            <a:avLst/>
          </a:prstGeom>
          <a:solidFill>
            <a:srgbClr val="FFFFFF"/>
            <a:alpha val="16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61288" y="268883"/>
            <a:ext cx="23364" cy="23364"/>
          </a:xfrm>
          <a:prstGeom prst="ellipse">
            <a:avLst/>
          </a:prstGeom>
          <a:solidFill>
            <a:srgbClr val="FFFFFF"/>
            <a:alpha val="32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73558" y="2151680"/>
            <a:ext cx="23905" cy="23905"/>
          </a:xfrm>
          <a:prstGeom prst="ellipse">
            <a:avLst/>
          </a:prstGeom>
          <a:solidFill>
            <a:srgbClr val="FFFFFF"/>
            <a:alpha val="33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61916" y="5760499"/>
            <a:ext cx="28893" cy="28893"/>
          </a:xfrm>
          <a:prstGeom prst="ellipse">
            <a:avLst/>
          </a:prstGeom>
          <a:solidFill>
            <a:srgbClr val="FFFFFF"/>
            <a:alpha val="36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9663" y="4810832"/>
            <a:ext cx="22942" cy="22942"/>
          </a:xfrm>
          <a:prstGeom prst="ellipse">
            <a:avLst/>
          </a:prstGeom>
          <a:solidFill>
            <a:srgbClr val="FFFFFF"/>
            <a:alpha val="42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69701" y="2645757"/>
            <a:ext cx="23373" cy="23373"/>
          </a:xfrm>
          <a:prstGeom prst="ellipse">
            <a:avLst/>
          </a:prstGeom>
          <a:solidFill>
            <a:srgbClr val="00D4FF"/>
            <a:alpha val="28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48794" y="803042"/>
            <a:ext cx="11179" cy="11179"/>
          </a:xfrm>
          <a:prstGeom prst="ellipse">
            <a:avLst/>
          </a:prstGeom>
          <a:solidFill>
            <a:srgbClr val="FFFFFF"/>
            <a:alpha val="15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18844" y="2681133"/>
            <a:ext cx="27428" cy="27428"/>
          </a:xfrm>
          <a:prstGeom prst="ellipse">
            <a:avLst/>
          </a:prstGeom>
          <a:solidFill>
            <a:srgbClr val="00D4FF"/>
            <a:alpha val="27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98603" y="6058246"/>
            <a:ext cx="26385" cy="26385"/>
          </a:xfrm>
          <a:prstGeom prst="ellipse">
            <a:avLst/>
          </a:prstGeom>
          <a:solidFill>
            <a:srgbClr val="FFFFFF"/>
            <a:alpha val="21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63168" y="2460452"/>
            <a:ext cx="27683" cy="27683"/>
          </a:xfrm>
          <a:prstGeom prst="ellipse">
            <a:avLst/>
          </a:prstGeom>
          <a:solidFill>
            <a:srgbClr val="FFFFFF"/>
            <a:alpha val="16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48392" y="1590760"/>
            <a:ext cx="14666" cy="14666"/>
          </a:xfrm>
          <a:prstGeom prst="ellipse">
            <a:avLst/>
          </a:prstGeom>
          <a:solidFill>
            <a:srgbClr val="FFFFFF"/>
            <a:alpha val="3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203326" y="28073"/>
            <a:ext cx="18378" cy="18378"/>
          </a:xfrm>
          <a:prstGeom prst="ellipse">
            <a:avLst/>
          </a:prstGeom>
          <a:solidFill>
            <a:srgbClr val="00D4FF"/>
            <a:alpha val="32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9879" y="4735405"/>
            <a:ext cx="20309" cy="20309"/>
          </a:xfrm>
          <a:prstGeom prst="ellipse">
            <a:avLst/>
          </a:prstGeom>
          <a:solidFill>
            <a:srgbClr val="FFFFFF"/>
            <a:alpha val="3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264" y="6168997"/>
            <a:ext cx="25599" cy="25599"/>
          </a:xfrm>
          <a:prstGeom prst="ellipse">
            <a:avLst/>
          </a:prstGeom>
          <a:solidFill>
            <a:srgbClr val="FFFFFF"/>
            <a:alpha val="41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3763" y="2736196"/>
            <a:ext cx="12070" cy="12070"/>
          </a:xfrm>
          <a:prstGeom prst="ellipse">
            <a:avLst/>
          </a:prstGeom>
          <a:solidFill>
            <a:srgbClr val="FFFFFF"/>
            <a:alpha val="12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1081" y="1431697"/>
            <a:ext cx="13246" cy="13246"/>
          </a:xfrm>
          <a:prstGeom prst="ellipse">
            <a:avLst/>
          </a:prstGeom>
          <a:solidFill>
            <a:srgbClr val="00D4FF"/>
            <a:alpha val="121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844" y="1037374"/>
            <a:ext cx="12029" cy="12029"/>
          </a:xfrm>
          <a:prstGeom prst="ellipse">
            <a:avLst/>
          </a:prstGeom>
          <a:solidFill>
            <a:srgbClr val="00D4FF"/>
            <a:alpha val="1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59593" y="4211285"/>
            <a:ext cx="12971" cy="12971"/>
          </a:xfrm>
          <a:prstGeom prst="ellipse">
            <a:avLst/>
          </a:prstGeom>
          <a:solidFill>
            <a:srgbClr val="00D4FF"/>
            <a:alpha val="23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9769" y="842452"/>
            <a:ext cx="26978" cy="26978"/>
          </a:xfrm>
          <a:prstGeom prst="ellipse">
            <a:avLst/>
          </a:prstGeom>
          <a:solidFill>
            <a:srgbClr val="FFFFFF"/>
            <a:alpha val="28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898764" y="588997"/>
            <a:ext cx="12043" cy="12043"/>
          </a:xfrm>
          <a:prstGeom prst="ellipse">
            <a:avLst/>
          </a:prstGeom>
          <a:solidFill>
            <a:srgbClr val="00D4FF"/>
            <a:alpha val="20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05151" y="1107145"/>
            <a:ext cx="10461" cy="10461"/>
          </a:xfrm>
          <a:prstGeom prst="ellipse">
            <a:avLst/>
          </a:prstGeom>
          <a:solidFill>
            <a:srgbClr val="FFFFFF"/>
            <a:alpha val="3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787333" y="3725076"/>
            <a:ext cx="10540" cy="10540"/>
          </a:xfrm>
          <a:prstGeom prst="ellipse">
            <a:avLst/>
          </a:prstGeom>
          <a:solidFill>
            <a:srgbClr val="FFFFFF"/>
            <a:alpha val="4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25395" y="4774517"/>
            <a:ext cx="15222" cy="15222"/>
          </a:xfrm>
          <a:prstGeom prst="ellipse">
            <a:avLst/>
          </a:prstGeom>
          <a:solidFill>
            <a:srgbClr val="00D4FF"/>
            <a:alpha val="16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11231" y="3652518"/>
            <a:ext cx="25581" cy="25581"/>
          </a:xfrm>
          <a:prstGeom prst="ellipse">
            <a:avLst/>
          </a:prstGeom>
          <a:solidFill>
            <a:srgbClr val="00D4FF"/>
            <a:alpha val="18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893697" y="6754622"/>
            <a:ext cx="27052" cy="27052"/>
          </a:xfrm>
          <a:prstGeom prst="ellipse">
            <a:avLst/>
          </a:prstGeom>
          <a:solidFill>
            <a:srgbClr val="FFFFFF"/>
            <a:alpha val="4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20306" y="1554979"/>
            <a:ext cx="20352" cy="20352"/>
          </a:xfrm>
          <a:prstGeom prst="ellipse">
            <a:avLst/>
          </a:prstGeom>
          <a:solidFill>
            <a:srgbClr val="00D4FF"/>
            <a:alpha val="11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40600" y="1916252"/>
            <a:ext cx="15183" cy="15183"/>
          </a:xfrm>
          <a:prstGeom prst="ellipse">
            <a:avLst/>
          </a:prstGeom>
          <a:solidFill>
            <a:srgbClr val="FFFFFF"/>
            <a:alpha val="48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52463" y="6426091"/>
            <a:ext cx="29760" cy="29760"/>
          </a:xfrm>
          <a:prstGeom prst="ellipse">
            <a:avLst/>
          </a:prstGeom>
          <a:solidFill>
            <a:srgbClr val="FFFFFF"/>
            <a:alpha val="24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687809" y="1555708"/>
            <a:ext cx="13934" cy="13934"/>
          </a:xfrm>
          <a:prstGeom prst="ellipse">
            <a:avLst/>
          </a:prstGeom>
          <a:solidFill>
            <a:srgbClr val="00D4FF"/>
            <a:alpha val="34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76284" y="5763706"/>
            <a:ext cx="19589" cy="19589"/>
          </a:xfrm>
          <a:prstGeom prst="ellipse">
            <a:avLst/>
          </a:prstGeom>
          <a:solidFill>
            <a:srgbClr val="FFFFFF"/>
            <a:alpha val="41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3593" y="4530296"/>
            <a:ext cx="28195" cy="28195"/>
          </a:xfrm>
          <a:prstGeom prst="ellipse">
            <a:avLst/>
          </a:prstGeom>
          <a:solidFill>
            <a:srgbClr val="FFFFFF"/>
            <a:alpha val="40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828029" y="1224301"/>
            <a:ext cx="25782" cy="25782"/>
          </a:xfrm>
          <a:prstGeom prst="ellipse">
            <a:avLst/>
          </a:prstGeom>
          <a:solidFill>
            <a:srgbClr val="00D4FF"/>
            <a:alpha val="4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846149" y="2714660"/>
            <a:ext cx="18027" cy="18027"/>
          </a:xfrm>
          <a:prstGeom prst="ellipse">
            <a:avLst/>
          </a:prstGeom>
          <a:solidFill>
            <a:srgbClr val="FFFFFF"/>
            <a:alpha val="3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72632" y="871229"/>
            <a:ext cx="13023" cy="13023"/>
          </a:xfrm>
          <a:prstGeom prst="ellipse">
            <a:avLst/>
          </a:prstGeom>
          <a:solidFill>
            <a:srgbClr val="FFFFFF"/>
            <a:alpha val="42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782112" y="5668208"/>
            <a:ext cx="29606" cy="29606"/>
          </a:xfrm>
          <a:prstGeom prst="ellipse">
            <a:avLst/>
          </a:prstGeom>
          <a:solidFill>
            <a:srgbClr val="FFFFFF"/>
            <a:alpha val="24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89095" y="898287"/>
            <a:ext cx="10284" cy="10284"/>
          </a:xfrm>
          <a:prstGeom prst="ellipse">
            <a:avLst/>
          </a:prstGeom>
          <a:solidFill>
            <a:srgbClr val="FFFFFF"/>
            <a:alpha val="35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19915" y="6402798"/>
            <a:ext cx="18676" cy="18676"/>
          </a:xfrm>
          <a:prstGeom prst="ellipse">
            <a:avLst/>
          </a:prstGeom>
          <a:solidFill>
            <a:srgbClr val="FFFFFF"/>
            <a:alpha val="4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572963" y="1727083"/>
            <a:ext cx="15859" cy="15859"/>
          </a:xfrm>
          <a:prstGeom prst="ellipse">
            <a:avLst/>
          </a:prstGeom>
          <a:solidFill>
            <a:srgbClr val="00D4FF"/>
            <a:alpha val="3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162096" y="2873588"/>
            <a:ext cx="12621" cy="12621"/>
          </a:xfrm>
          <a:prstGeom prst="ellipse">
            <a:avLst/>
          </a:prstGeom>
          <a:solidFill>
            <a:srgbClr val="FFFFFF"/>
            <a:alpha val="2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585759" y="4000605"/>
            <a:ext cx="28085" cy="28085"/>
          </a:xfrm>
          <a:prstGeom prst="ellipse">
            <a:avLst/>
          </a:prstGeom>
          <a:solidFill>
            <a:srgbClr val="FFFFFF"/>
            <a:alpha val="46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115950" y="3647255"/>
            <a:ext cx="20470" cy="20470"/>
          </a:xfrm>
          <a:prstGeom prst="ellipse">
            <a:avLst/>
          </a:prstGeom>
          <a:solidFill>
            <a:srgbClr val="00D4FF"/>
            <a:alpha val="27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232395" y="26968"/>
            <a:ext cx="25983" cy="25983"/>
          </a:xfrm>
          <a:prstGeom prst="ellipse">
            <a:avLst/>
          </a:prstGeom>
          <a:solidFill>
            <a:srgbClr val="00D4FF"/>
            <a:alpha val="28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841335" y="3816309"/>
            <a:ext cx="16519" cy="16519"/>
          </a:xfrm>
          <a:prstGeom prst="ellipse">
            <a:avLst/>
          </a:prstGeom>
          <a:solidFill>
            <a:srgbClr val="FFFFFF"/>
            <a:alpha val="322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561610" y="727698"/>
            <a:ext cx="21205" cy="21205"/>
          </a:xfrm>
          <a:prstGeom prst="ellipse">
            <a:avLst/>
          </a:prstGeom>
          <a:solidFill>
            <a:srgbClr val="00D4FF"/>
            <a:alpha val="21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415171" y="3481902"/>
            <a:ext cx="21234" cy="21234"/>
          </a:xfrm>
          <a:prstGeom prst="ellipse">
            <a:avLst/>
          </a:prstGeom>
          <a:solidFill>
            <a:srgbClr val="FFFFFF"/>
            <a:alpha val="46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403949" y="4200716"/>
            <a:ext cx="20111" cy="20111"/>
          </a:xfrm>
          <a:prstGeom prst="ellipse">
            <a:avLst/>
          </a:prstGeom>
          <a:solidFill>
            <a:srgbClr val="FFFFFF"/>
            <a:alpha val="37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514861" y="3657271"/>
            <a:ext cx="19560" cy="19560"/>
          </a:xfrm>
          <a:prstGeom prst="ellipse">
            <a:avLst/>
          </a:prstGeom>
          <a:solidFill>
            <a:srgbClr val="FFFFFF"/>
            <a:alpha val="37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686453" y="6461474"/>
            <a:ext cx="15191" cy="15191"/>
          </a:xfrm>
          <a:prstGeom prst="ellipse">
            <a:avLst/>
          </a:prstGeom>
          <a:solidFill>
            <a:srgbClr val="FFFFFF"/>
            <a:alpha val="47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241021" y="940467"/>
            <a:ext cx="12432" cy="12432"/>
          </a:xfrm>
          <a:prstGeom prst="ellipse">
            <a:avLst/>
          </a:prstGeom>
          <a:solidFill>
            <a:srgbClr val="FFFFFF"/>
            <a:alpha val="129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933794" y="501462"/>
            <a:ext cx="23389" cy="23389"/>
          </a:xfrm>
          <a:prstGeom prst="ellipse">
            <a:avLst/>
          </a:prstGeom>
          <a:solidFill>
            <a:srgbClr val="FFFFFF"/>
            <a:alpha val="458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2743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JetBrains Mono"/>
              </a:rPr>
              <a:t>● PLANET B-612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78240" y="27432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A0C0"/>
                </a:solidFill>
                <a:latin typeface="JetBrains Mono"/>
              </a:rPr>
              <a:t>WHAT'S NEXT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Inter"/>
              </a:rPr>
              <a:t>ROADMAP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1143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E6E9F5"/>
                </a:solidFill>
                <a:latin typeface="Inter"/>
              </a:rPr>
              <a:t>From </a:t>
            </a:r>
            <a:r>
              <a:rPr sz="3600" b="1">
                <a:solidFill>
                  <a:srgbClr val="00D4FF"/>
                </a:solidFill>
                <a:latin typeface="Inter"/>
              </a:rPr>
              <a:t>Singapore-day-one</a:t>
            </a:r>
            <a:r>
              <a:rPr sz="3600" b="1">
                <a:solidFill>
                  <a:srgbClr val="E6E9F5"/>
                </a:solidFill>
                <a:latin typeface="Inter"/>
              </a:rPr>
              <a:t> to your every trip.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2743200"/>
            <a:ext cx="3657600" cy="2194560"/>
          </a:xfrm>
          <a:prstGeom prst="roundRect">
            <a:avLst>
              <a:gd name="adj" fmla="val 4000"/>
            </a:avLst>
          </a:prstGeom>
          <a:solidFill>
            <a:srgbClr val="1216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05840" y="2468880"/>
            <a:ext cx="640080" cy="64008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70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5840" y="24688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Inter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" y="32918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Inter"/>
              </a:rPr>
              <a:t>Multi-city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5840" y="370332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6E9F5"/>
                </a:solidFill>
                <a:latin typeface="Inter"/>
              </a:rPr>
              <a:t>Lift the Singapore-only knowledge to a generic local-guide template. Activate per detected city: Tokyo, Bangkok, Bali, Lisbon.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80560" y="2743200"/>
            <a:ext cx="3657600" cy="2194560"/>
          </a:xfrm>
          <a:prstGeom prst="roundRect">
            <a:avLst>
              <a:gd name="adj" fmla="val 4000"/>
            </a:avLst>
          </a:prstGeom>
          <a:solidFill>
            <a:srgbClr val="1216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846320" y="2468880"/>
            <a:ext cx="640080" cy="64008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70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46320" y="24688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Inter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46320" y="32918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Inter"/>
              </a:rPr>
              <a:t>Multiplayer planets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46320" y="370332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6E9F5"/>
                </a:solidFill>
                <a:latin typeface="Inter"/>
              </a:rPr>
              <a:t>Share your planet via planet ID. Friends can "visit" — leave footprints, swap species, even gift a model from their travels.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21040" y="2743200"/>
            <a:ext cx="3657600" cy="2194560"/>
          </a:xfrm>
          <a:prstGeom prst="roundRect">
            <a:avLst>
              <a:gd name="adj" fmla="val 4000"/>
            </a:avLst>
          </a:prstGeom>
          <a:solidFill>
            <a:srgbClr val="121632"/>
          </a:solidFill>
          <a:ln w="9525">
            <a:solidFill>
              <a:srgbClr val="35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686800" y="2468880"/>
            <a:ext cx="640080" cy="64008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70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86800" y="24688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Inter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86800" y="32918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Inter"/>
              </a:rPr>
              <a:t>Real-world rewards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6800" y="370332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6E9F5"/>
                </a:solidFill>
                <a:latin typeface="Inter"/>
              </a:rPr>
              <a:t>Sponsored quests verified by photo → unlock real coupons. Already wired with SuperAI 2026, Tiger, Mr. Coconut. Scale via brand partnerships.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Inter"/>
              </a:rPr>
              <a:t>🦊  Thank you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9AA0C0"/>
                </a:solidFill>
                <a:latin typeface="Inter"/>
              </a:rPr>
              <a:t>Built in one day for SuperAI Singapore 2026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AA0C0"/>
                </a:solidFill>
                <a:latin typeface="JetBrains Mono"/>
              </a:rPr>
              <a:t>🌐  Live demo  </a:t>
            </a:r>
            <a:r>
              <a:rPr sz="1100" b="1" i="0">
                <a:solidFill>
                  <a:srgbClr val="00D4FF"/>
                </a:solidFill>
                <a:latin typeface="JetBrains Mono"/>
              </a:rPr>
              <a:t>ai-planet-b612-superai.vercel.app</a:t>
            </a:r>
            <a:r>
              <a:rPr sz="1100" b="0" i="0">
                <a:solidFill>
                  <a:srgbClr val="9AA0C0"/>
                </a:solidFill>
                <a:latin typeface="JetBrains Mono"/>
              </a:rPr>
              <a:t>     📦  Code  </a:t>
            </a:r>
            <a:r>
              <a:rPr sz="1100" b="1" i="0">
                <a:solidFill>
                  <a:srgbClr val="00D4FF"/>
                </a:solidFill>
                <a:latin typeface="JetBrains Mono"/>
              </a:rPr>
              <a:t>github.com/zhsg2024-hub/AI-Planet-B612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