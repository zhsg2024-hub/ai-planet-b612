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2" r:id="rId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1638127" y="5811700"/>
            <a:ext cx="25275" cy="2527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0057" y="4468624"/>
            <a:ext cx="25774" cy="2577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89393" y="2967916"/>
            <a:ext cx="25245" cy="2524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96796" y="1568851"/>
            <a:ext cx="28905" cy="2890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10228" y="3713006"/>
            <a:ext cx="28782" cy="2878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46316" y="199161"/>
            <a:ext cx="14433" cy="144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1694" y="1583282"/>
            <a:ext cx="14375" cy="14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1995" y="5744109"/>
            <a:ext cx="21129" cy="2112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786" y="5897513"/>
            <a:ext cx="12417" cy="1241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70633" y="6422109"/>
            <a:ext cx="18442" cy="184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576" y="4029627"/>
            <a:ext cx="27649" cy="2764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80935" y="236778"/>
            <a:ext cx="14854" cy="1485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09253" y="3763661"/>
            <a:ext cx="24060" cy="24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1686" y="3486788"/>
            <a:ext cx="25568" cy="255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0194" y="202825"/>
            <a:ext cx="10869" cy="1086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31915" y="2699306"/>
            <a:ext cx="13406" cy="1340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93983" y="3700696"/>
            <a:ext cx="27205" cy="2720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12191" y="3962516"/>
            <a:ext cx="19182" cy="1918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668869" y="39153"/>
            <a:ext cx="25673" cy="256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27991" y="5549081"/>
            <a:ext cx="20373" cy="203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4238" y="5966529"/>
            <a:ext cx="21399" cy="2139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12059" y="2446865"/>
            <a:ext cx="16921" cy="1692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66833" y="3141970"/>
            <a:ext cx="10559" cy="1055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25568" y="5904798"/>
            <a:ext cx="25968" cy="259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12467" y="5772686"/>
            <a:ext cx="23462" cy="2346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7510" y="5181814"/>
            <a:ext cx="14991" cy="1499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199098" y="476736"/>
            <a:ext cx="13192" cy="131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27289" y="4880083"/>
            <a:ext cx="19094" cy="1909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88145" y="2651008"/>
            <a:ext cx="18418" cy="1841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70312" y="3498375"/>
            <a:ext cx="14181" cy="1418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53808" y="122514"/>
            <a:ext cx="12929" cy="1292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0336" y="4650929"/>
            <a:ext cx="20894" cy="2089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26666" y="3542839"/>
            <a:ext cx="14463" cy="1446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20538" y="2203103"/>
            <a:ext cx="22618" cy="2261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800381" y="6004413"/>
            <a:ext cx="16127" cy="161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51518" y="5101269"/>
            <a:ext cx="18323" cy="1832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713060" y="260031"/>
            <a:ext cx="26388" cy="263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91084" y="5951242"/>
            <a:ext cx="29475" cy="294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608080" y="2379252"/>
            <a:ext cx="14115" cy="1411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366635" y="716141"/>
            <a:ext cx="23319" cy="2331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966514" y="5977580"/>
            <a:ext cx="27993" cy="2799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995714" y="6769186"/>
            <a:ext cx="25654" cy="2565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22750" y="5744953"/>
            <a:ext cx="28643" cy="2864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377037" y="3322692"/>
            <a:ext cx="29710" cy="2971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32395" y="1163762"/>
            <a:ext cx="28219" cy="2821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317562" y="5768484"/>
            <a:ext cx="17362" cy="1736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575317" y="4142112"/>
            <a:ext cx="29086" cy="2908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19702" y="715117"/>
            <a:ext cx="10782" cy="1078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608475" y="5681893"/>
            <a:ext cx="16817" cy="1681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608943" y="3914419"/>
            <a:ext cx="14474" cy="1447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859973" y="3870976"/>
            <a:ext cx="28501" cy="285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95042" y="5676834"/>
            <a:ext cx="10247" cy="1024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03294" y="6069741"/>
            <a:ext cx="10800" cy="1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132869" y="792498"/>
            <a:ext cx="13347" cy="1334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253722" y="6246022"/>
            <a:ext cx="17565" cy="1756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84645" y="1737886"/>
            <a:ext cx="19540" cy="195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3037" y="72051"/>
            <a:ext cx="29651" cy="2965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484367" y="2148480"/>
            <a:ext cx="11259" cy="112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823463" y="763722"/>
            <a:ext cx="14303" cy="143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619032" y="4719605"/>
            <a:ext cx="23236" cy="2323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2743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JetBrains Mono"/>
              </a:rPr>
              <a:t>● PLANET B-612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778240" y="2743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0C0"/>
                </a:solidFill>
                <a:latin typeface="JetBrains Mono"/>
              </a:rPr>
              <a:t>SUPERAI SINGAPORE · JUNE 2026</a:t>
            </a:r>
            <a:endParaRPr sz="10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68680" y="1463040"/>
            <a:ext cx="3657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200" b="0" i="0">
                <a:solidFill>
                  <a:srgbClr val="FFFFFF"/>
                </a:solidFill>
                <a:latin typeface="Apple Color Emoji"/>
              </a:rPr>
              <a:t>🌍🦊</a:t>
            </a:r>
            <a:endParaRPr sz="92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68680" y="2743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JetBrains Mono"/>
              </a:rPr>
              <a:t>A LITTLE-PRINCE-INSPIRED COMPANION APP</a:t>
            </a:r>
            <a:endParaRPr sz="12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68680" y="315468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00" b="1" i="0">
                <a:solidFill>
                  <a:srgbClr val="00D4FF"/>
                </a:solidFill>
                <a:latin typeface="Inter"/>
              </a:rPr>
              <a:t>Planet B-612</a:t>
            </a:r>
            <a:endParaRPr sz="78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68680" y="457200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 i="0">
                <a:solidFill>
                  <a:srgbClr val="E6E9F5"/>
                </a:solidFill>
                <a:latin typeface="Inter"/>
              </a:rPr>
              <a:t>A tiny planet that </a:t>
            </a:r>
            <a:r>
              <a:rPr sz="2200" b="1" i="0">
                <a:solidFill>
                  <a:srgbClr val="00D4FF"/>
                </a:solidFill>
                <a:latin typeface="Inter"/>
              </a:rPr>
              <a:t>grows with your travels</a:t>
            </a:r>
            <a:r>
              <a:rPr sz="2200" b="0" i="0">
                <a:solidFill>
                  <a:srgbClr val="E6E9F5"/>
                </a:solidFill>
                <a:latin typeface="Inter"/>
              </a:rPr>
              <a:t>, tended by a fox who waits for the stories you bring back.</a:t>
            </a:r>
            <a:endParaRPr sz="220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868680" y="60807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00354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8680" y="60807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Inter"/>
              </a:rPr>
              <a:t>✦  Live Demo Inside</a:t>
            </a:r>
            <a:endParaRPr sz="1200" b="1" i="0">
              <a:solidFill>
                <a:srgbClr val="00D4FF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11655678" y="6500200"/>
            <a:ext cx="11131" cy="1113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72721" y="4593011"/>
            <a:ext cx="16162" cy="161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85862" y="1086189"/>
            <a:ext cx="18613" cy="1861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128536" y="6510954"/>
            <a:ext cx="20883" cy="208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7978" y="188216"/>
            <a:ext cx="19297" cy="1929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72425" y="3605612"/>
            <a:ext cx="21210" cy="2121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64043" y="937470"/>
            <a:ext cx="20204" cy="202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16980" y="6128113"/>
            <a:ext cx="25935" cy="2593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00867" y="5416089"/>
            <a:ext cx="17075" cy="170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65114" y="5170959"/>
            <a:ext cx="24303" cy="243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74100" y="6342498"/>
            <a:ext cx="20016" cy="20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63449" y="6170146"/>
            <a:ext cx="19220" cy="192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24019" y="3337161"/>
            <a:ext cx="14436" cy="1443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24670" y="6226655"/>
            <a:ext cx="15362" cy="153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671861" y="4843159"/>
            <a:ext cx="20084" cy="200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68042" y="2138628"/>
            <a:ext cx="14156" cy="141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98657" y="516924"/>
            <a:ext cx="26407" cy="2640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33523" y="5107719"/>
            <a:ext cx="11175" cy="111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2839" y="6004118"/>
            <a:ext cx="12125" cy="121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84916" y="1443464"/>
            <a:ext cx="27611" cy="276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8586" y="2485043"/>
            <a:ext cx="13437" cy="134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637730" y="173814"/>
            <a:ext cx="24588" cy="2458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916168" y="1077517"/>
            <a:ext cx="13674" cy="1367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6205" y="6789430"/>
            <a:ext cx="13028" cy="130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00812" y="5091788"/>
            <a:ext cx="12262" cy="1226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69843" y="5253021"/>
            <a:ext cx="24798" cy="247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4675" y="4837256"/>
            <a:ext cx="19455" cy="1945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56305" y="699852"/>
            <a:ext cx="18956" cy="189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31601" y="2694868"/>
            <a:ext cx="20296" cy="2029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158824" y="4156482"/>
            <a:ext cx="18395" cy="1839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713778" y="389404"/>
            <a:ext cx="10671" cy="1067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42649" y="3485641"/>
            <a:ext cx="29669" cy="2966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34250" y="3049735"/>
            <a:ext cx="15015" cy="1501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55885" y="4865739"/>
            <a:ext cx="15132" cy="151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8822" y="243454"/>
            <a:ext cx="18174" cy="1817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36558" y="684243"/>
            <a:ext cx="13635" cy="1363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48658" y="3184876"/>
            <a:ext cx="16194" cy="1619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052535" y="6605054"/>
            <a:ext cx="24578" cy="245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084305" y="351367"/>
            <a:ext cx="18360" cy="18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43419" y="5504609"/>
            <a:ext cx="17323" cy="173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443155" y="1985944"/>
            <a:ext cx="29670" cy="2967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55098" y="693768"/>
            <a:ext cx="16118" cy="1611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1678" y="3095862"/>
            <a:ext cx="18213" cy="182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77800" y="506047"/>
            <a:ext cx="15687" cy="1568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3252" y="5177681"/>
            <a:ext cx="13847" cy="1384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647490" y="5168055"/>
            <a:ext cx="17900" cy="179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81562" y="5829786"/>
            <a:ext cx="22819" cy="228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0754" y="4520516"/>
            <a:ext cx="25544" cy="255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59562" y="3134350"/>
            <a:ext cx="25974" cy="2597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22260" y="6547310"/>
            <a:ext cx="26086" cy="2608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18052" y="1588500"/>
            <a:ext cx="19775" cy="1977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279870" y="6299623"/>
            <a:ext cx="21718" cy="2171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340941" y="6842555"/>
            <a:ext cx="12930" cy="1293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50306" y="6141341"/>
            <a:ext cx="29772" cy="297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613405" y="1588996"/>
            <a:ext cx="23414" cy="2341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388384" y="768577"/>
            <a:ext cx="20817" cy="2081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72285" y="3542166"/>
            <a:ext cx="24307" cy="2430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619651" y="4822759"/>
            <a:ext cx="18083" cy="180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91210" y="992798"/>
            <a:ext cx="18823" cy="1882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750850" y="1237351"/>
            <a:ext cx="20203" cy="202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2743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JetBrains Mono"/>
              </a:rPr>
              <a:t>● PLANET B-612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778240" y="2743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0C0"/>
                </a:solidFill>
                <a:latin typeface="JetBrains Mono"/>
              </a:rPr>
              <a:t>THE PROBLEM</a:t>
            </a:r>
            <a:endParaRPr sz="10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Inter"/>
              </a:rPr>
              <a:t>WHY THIS</a:t>
            </a:r>
            <a:endParaRPr sz="11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0080" y="11430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E6E9F5"/>
                </a:solidFill>
                <a:latin typeface="Inter"/>
              </a:rPr>
              <a:t>Travel memories </a:t>
            </a:r>
            <a:r>
              <a:rPr sz="3600" b="1">
                <a:solidFill>
                  <a:srgbClr val="00D4FF"/>
                </a:solidFill>
                <a:latin typeface="Inter"/>
              </a:rPr>
              <a:t>deserve a home</a:t>
            </a:r>
            <a:endParaRPr sz="3600" b="1">
              <a:solidFill>
                <a:srgbClr val="00D4FF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0080" y="169164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E6E9F5"/>
                </a:solidFill>
                <a:latin typeface="Inter"/>
              </a:rPr>
              <a:t>that isn't a camera roll.</a:t>
            </a:r>
            <a:endParaRPr sz="3600" b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40080" y="26060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AA0C0"/>
                </a:solidFill>
                <a:latin typeface="Inter"/>
              </a:rPr>
              <a:t>We snap thousands of photos. Most are never seen again. We tell incredible stories — once — to a friend, then forget the detail. The trip ends, the world dissolves back into a folder named 2026/SG.</a:t>
            </a:r>
            <a:endParaRPr sz="150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40080" y="3703320"/>
            <a:ext cx="5349240" cy="2697480"/>
          </a:xfrm>
          <a:prstGeom prst="roundRect">
            <a:avLst>
              <a:gd name="adj" fmla="val 4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0120" y="3886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📸  Today</a:t>
            </a:r>
            <a:endParaRPr sz="18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60120" y="434340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Photos pile up in chronological folders</a:t>
            </a:r>
            <a:endParaRPr sz="1300">
              <a:solidFill>
                <a:srgbClr val="E6E9F5"/>
              </a:solidFill>
              <a:latin typeface="Inter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No structure: sunset, noodles, temple wall — all equal pixels</a:t>
            </a:r>
            <a:endParaRPr sz="1300">
              <a:solidFill>
                <a:srgbClr val="E6E9F5"/>
              </a:solidFill>
              <a:latin typeface="Inter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Cultural context lives only in the moment</a:t>
            </a:r>
            <a:endParaRPr sz="1300">
              <a:solidFill>
                <a:srgbClr val="E6E9F5"/>
              </a:solidFill>
              <a:latin typeface="Inter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Travel ends → memories fade</a:t>
            </a:r>
            <a:endParaRPr sz="1300">
              <a:solidFill>
                <a:srgbClr val="E6E9F5"/>
              </a:solidFill>
              <a:latin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6217920" y="3703320"/>
            <a:ext cx="5349240" cy="2697480"/>
          </a:xfrm>
          <a:prstGeom prst="roundRect">
            <a:avLst>
              <a:gd name="adj" fmla="val 4000"/>
            </a:avLst>
          </a:prstGeom>
          <a:solidFill>
            <a:srgbClr val="121632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37960" y="3886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🌍  Planet B-612</a:t>
            </a:r>
            <a:endParaRPr sz="18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537960" y="434340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Each photo becomes a living 3D model on your planet</a:t>
            </a:r>
            <a:endParaRPr sz="1300">
              <a:solidFill>
                <a:srgbClr val="E6E9F5"/>
              </a:solidFill>
              <a:latin typeface="Inter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An AI fox identifies it and tells you the deep local context</a:t>
            </a:r>
            <a:endParaRPr sz="1300">
              <a:solidFill>
                <a:srgbClr val="E6E9F5"/>
              </a:solidFill>
              <a:latin typeface="Inter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Codex grows; planet evolves; fox writes diary entries</a:t>
            </a:r>
            <a:endParaRPr sz="1300">
              <a:solidFill>
                <a:srgbClr val="E6E9F5"/>
              </a:solidFill>
              <a:latin typeface="Inter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9F5"/>
                </a:solidFill>
                <a:latin typeface="Inter"/>
              </a:rPr>
              <a:t>▸  Years later, you can still walk through the world you brought back</a:t>
            </a:r>
            <a:endParaRPr sz="1300">
              <a:solidFill>
                <a:srgbClr val="E6E9F5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2901192" y="3732324"/>
            <a:ext cx="17399" cy="173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8907" y="90306"/>
            <a:ext cx="26749" cy="2674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138598" y="3225067"/>
            <a:ext cx="26729" cy="2672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36269" y="4353874"/>
            <a:ext cx="27360" cy="27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85643" y="439127"/>
            <a:ext cx="25164" cy="251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8085" y="5935785"/>
            <a:ext cx="19454" cy="1945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06448" y="6316894"/>
            <a:ext cx="17899" cy="178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06387" y="6027267"/>
            <a:ext cx="11949" cy="1194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70839" y="2991198"/>
            <a:ext cx="22532" cy="2253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4363" y="2406544"/>
            <a:ext cx="21701" cy="217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14518" y="6370708"/>
            <a:ext cx="27128" cy="271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88460" y="5902252"/>
            <a:ext cx="29292" cy="29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02639" y="1447895"/>
            <a:ext cx="26632" cy="266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3692" y="5856337"/>
            <a:ext cx="29796" cy="2979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04225" y="1033948"/>
            <a:ext cx="15877" cy="158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8751" y="4214464"/>
            <a:ext cx="10898" cy="108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39728" y="6725200"/>
            <a:ext cx="20108" cy="201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8403" y="4113173"/>
            <a:ext cx="10627" cy="1062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42628" y="1071212"/>
            <a:ext cx="10848" cy="108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687683" y="6149291"/>
            <a:ext cx="17555" cy="1755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50094" y="4084969"/>
            <a:ext cx="21185" cy="211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81516" y="2957111"/>
            <a:ext cx="24406" cy="2440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921006" y="3573890"/>
            <a:ext cx="20968" cy="2096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70758" y="137522"/>
            <a:ext cx="22315" cy="2231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8351" y="3197545"/>
            <a:ext cx="23585" cy="2358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997888" y="152127"/>
            <a:ext cx="11211" cy="112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61606" y="3129388"/>
            <a:ext cx="21853" cy="2185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11985" y="2531657"/>
            <a:ext cx="21912" cy="2191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15321" y="184625"/>
            <a:ext cx="21385" cy="213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13113" y="5512513"/>
            <a:ext cx="14773" cy="1477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0612" y="698430"/>
            <a:ext cx="16439" cy="1643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45213" y="5867260"/>
            <a:ext cx="13385" cy="1338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788409" y="3093658"/>
            <a:ext cx="14500" cy="145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6221" y="5532878"/>
            <a:ext cx="26769" cy="2676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841458" y="4402405"/>
            <a:ext cx="26125" cy="2612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59278" y="5444305"/>
            <a:ext cx="15423" cy="1542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17722" y="2808502"/>
            <a:ext cx="28412" cy="2841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00033" y="6034890"/>
            <a:ext cx="29738" cy="2973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306300" y="1523098"/>
            <a:ext cx="24910" cy="249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27672" y="1982248"/>
            <a:ext cx="16821" cy="1682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76979" y="1968322"/>
            <a:ext cx="26203" cy="2620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457447" y="6335796"/>
            <a:ext cx="27931" cy="2793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0253" y="5111255"/>
            <a:ext cx="13436" cy="1343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202" y="2837500"/>
            <a:ext cx="28780" cy="287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8096" y="5909296"/>
            <a:ext cx="19543" cy="1954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405831" y="3666540"/>
            <a:ext cx="26336" cy="2633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37896" y="5527898"/>
            <a:ext cx="26469" cy="2646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516002" y="342432"/>
            <a:ext cx="15427" cy="1542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56891" y="3243148"/>
            <a:ext cx="25529" cy="2552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46678" y="854686"/>
            <a:ext cx="11368" cy="113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50046" y="3443539"/>
            <a:ext cx="16317" cy="1631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886973" y="4022992"/>
            <a:ext cx="17216" cy="1721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508783" y="3809796"/>
            <a:ext cx="24320" cy="2432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176902" y="2559917"/>
            <a:ext cx="22088" cy="220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767509" y="4272030"/>
            <a:ext cx="18631" cy="1863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569306" y="2883884"/>
            <a:ext cx="23882" cy="2388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532765" y="4767470"/>
            <a:ext cx="11431" cy="1143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724659" y="6422407"/>
            <a:ext cx="17484" cy="174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196415" y="3183094"/>
            <a:ext cx="12462" cy="124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8221" y="5434755"/>
            <a:ext cx="23351" cy="2335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2743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JetBrains Mono"/>
              </a:rPr>
              <a:t>● PLANET B-612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778240" y="2743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0C0"/>
                </a:solidFill>
                <a:latin typeface="JetBrains Mono"/>
              </a:rPr>
              <a:t>THE CONCEPT</a:t>
            </a:r>
            <a:endParaRPr sz="10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Inter"/>
              </a:rPr>
              <a:t>THE LOOP</a:t>
            </a:r>
            <a:endParaRPr sz="11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0080" y="11430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E6E9F5"/>
                </a:solidFill>
                <a:latin typeface="Inter"/>
              </a:rPr>
              <a:t>From </a:t>
            </a:r>
            <a:r>
              <a:rPr sz="3600" b="1">
                <a:solidFill>
                  <a:srgbClr val="00D4FF"/>
                </a:solidFill>
                <a:latin typeface="Inter"/>
              </a:rPr>
              <a:t>snap</a:t>
            </a:r>
            <a:r>
              <a:rPr sz="3600" b="1">
                <a:solidFill>
                  <a:srgbClr val="E6E9F5"/>
                </a:solidFill>
                <a:latin typeface="Inter"/>
              </a:rPr>
              <a:t> to </a:t>
            </a:r>
            <a:endParaRPr sz="3600" b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0080" y="169164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00D4FF"/>
                </a:solidFill>
                <a:latin typeface="Inter"/>
              </a:rPr>
              <a:t>grow</a:t>
            </a:r>
            <a:r>
              <a:rPr sz="3600" b="1">
                <a:solidFill>
                  <a:srgbClr val="E6E9F5"/>
                </a:solidFill>
                <a:latin typeface="Inter"/>
              </a:rPr>
              <a:t> in four steps.</a:t>
            </a:r>
            <a:endParaRPr sz="3600" b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640080" y="2697480"/>
            <a:ext cx="38100" cy="128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8680" y="26974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E6E9F5"/>
                </a:solidFill>
                <a:latin typeface="Inter"/>
              </a:rPr>
              <a:t>"It is the time you have wasted for your rose that makes your rose so important."</a:t>
            </a:r>
            <a:endParaRPr sz="2000" b="0" i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68680" y="35204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AA0C0"/>
                </a:solidFill>
                <a:latin typeface="JetBrains Mono"/>
              </a:rPr>
              <a:t>— Antoine de Saint-Exupéry, The Little Prince</a:t>
            </a:r>
            <a:endParaRPr sz="11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77240" y="4526280"/>
            <a:ext cx="1417320" cy="1417320"/>
          </a:xfrm>
          <a:prstGeom prst="ellipse">
            <a:avLst/>
          </a:prstGeom>
          <a:solidFill>
            <a:srgbClr val="0C1F35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7240" y="466344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Apple Color Emoji"/>
              </a:rPr>
              <a:t>📷</a:t>
            </a:r>
            <a:endParaRPr sz="34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77240" y="53492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JetBrains Mono"/>
              </a:rPr>
              <a:t>CAPTURE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94360" y="598932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AA0C0"/>
                </a:solidFill>
                <a:latin typeface="Inter"/>
              </a:rPr>
              <a:t>Snap anything
that catches your eye</a:t>
            </a:r>
            <a:endParaRPr sz="100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331720" y="50292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0">
                <a:solidFill>
                  <a:srgbClr val="00D4FF"/>
                </a:solidFill>
                <a:latin typeface="Inter"/>
              </a:rPr>
              <a:t>→</a:t>
            </a:r>
            <a:endParaRPr sz="22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3383280" y="4526280"/>
            <a:ext cx="1417320" cy="1417320"/>
          </a:xfrm>
          <a:prstGeom prst="ellipse">
            <a:avLst/>
          </a:prstGeom>
          <a:solidFill>
            <a:srgbClr val="0C1F35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83280" y="466344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Apple Color Emoji"/>
              </a:rPr>
              <a:t>🤖</a:t>
            </a:r>
            <a:endParaRPr sz="34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383280" y="53492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JetBrains Mono"/>
              </a:rPr>
              <a:t>IDENTIFY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200400" y="598932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AA0C0"/>
                </a:solidFill>
                <a:latin typeface="Inter"/>
              </a:rPr>
              <a:t>Qwen-VL +
local context</a:t>
            </a:r>
            <a:endParaRPr sz="100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937760" y="50292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0">
                <a:solidFill>
                  <a:srgbClr val="00D4FF"/>
                </a:solidFill>
                <a:latin typeface="Inter"/>
              </a:rPr>
              <a:t>→</a:t>
            </a:r>
            <a:endParaRPr sz="22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5989320" y="4526280"/>
            <a:ext cx="1417320" cy="1417320"/>
          </a:xfrm>
          <a:prstGeom prst="ellipse">
            <a:avLst/>
          </a:prstGeom>
          <a:solidFill>
            <a:srgbClr val="0C1F35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989320" y="466344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Apple Color Emoji"/>
              </a:rPr>
              <a:t>🌍</a:t>
            </a:r>
            <a:endParaRPr sz="34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989320" y="53492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JetBrains Mono"/>
              </a:rPr>
              <a:t>PLANT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806440" y="598932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AA0C0"/>
                </a:solidFill>
                <a:latin typeface="Inter"/>
              </a:rPr>
              <a:t>Low-poly model
spawns on planet</a:t>
            </a:r>
            <a:endParaRPr sz="100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7543800" y="50292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0">
                <a:solidFill>
                  <a:srgbClr val="00D4FF"/>
                </a:solidFill>
                <a:latin typeface="Inter"/>
              </a:rPr>
              <a:t>→</a:t>
            </a:r>
            <a:endParaRPr sz="22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595360" y="4526280"/>
            <a:ext cx="1417320" cy="1417320"/>
          </a:xfrm>
          <a:prstGeom prst="ellipse">
            <a:avLst/>
          </a:prstGeom>
          <a:solidFill>
            <a:srgbClr val="0C1F35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95360" y="466344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Apple Color Emoji"/>
              </a:rPr>
              <a:t>🦊</a:t>
            </a:r>
            <a:endParaRPr sz="34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595360" y="53492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JetBrains Mono"/>
              </a:rPr>
              <a:t>FOX LIVES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412480" y="598932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AA0C0"/>
                </a:solidFill>
                <a:latin typeface="Inter"/>
              </a:rPr>
              <a:t>Walks, writes diary,
plans next wish</a:t>
            </a:r>
            <a:endParaRPr sz="1000" b="0" i="0">
              <a:solidFill>
                <a:srgbClr val="9AA0C0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2877826" y="707512"/>
            <a:ext cx="17921" cy="1792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96075" y="6295335"/>
            <a:ext cx="26009" cy="260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43038" y="1897489"/>
            <a:ext cx="13453" cy="1345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07500" y="5684733"/>
            <a:ext cx="26133" cy="261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77596" y="4299798"/>
            <a:ext cx="24637" cy="246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7242" y="4154932"/>
            <a:ext cx="23434" cy="23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73839" y="612736"/>
            <a:ext cx="28691" cy="286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60504" y="6233032"/>
            <a:ext cx="21447" cy="2144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97920" y="2838841"/>
            <a:ext cx="21978" cy="219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19827" y="5572758"/>
            <a:ext cx="10864" cy="1086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18956" y="3666436"/>
            <a:ext cx="19424" cy="1942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384372" y="2830945"/>
            <a:ext cx="14053" cy="1405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8180" y="5122532"/>
            <a:ext cx="16413" cy="164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31110" y="422523"/>
            <a:ext cx="14577" cy="1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94517" y="2270457"/>
            <a:ext cx="13550" cy="13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1169" y="6144272"/>
            <a:ext cx="29094" cy="2909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1736" y="1981937"/>
            <a:ext cx="29320" cy="29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500527" y="4255460"/>
            <a:ext cx="26358" cy="2635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14846" y="935689"/>
            <a:ext cx="17632" cy="176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558" y="307219"/>
            <a:ext cx="13391" cy="133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39666" y="665926"/>
            <a:ext cx="29634" cy="296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3449" y="379045"/>
            <a:ext cx="13373" cy="133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8547" y="3364998"/>
            <a:ext cx="14981" cy="1498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52352" y="5306666"/>
            <a:ext cx="18186" cy="1818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948709" y="2816049"/>
            <a:ext cx="10737" cy="107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42079" y="5699321"/>
            <a:ext cx="19971" cy="1997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955134" y="1426913"/>
            <a:ext cx="14629" cy="1462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5113" y="6364451"/>
            <a:ext cx="21306" cy="2130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84133" y="4484950"/>
            <a:ext cx="25817" cy="2581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2713" y="1446498"/>
            <a:ext cx="27476" cy="274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03597" y="4505081"/>
            <a:ext cx="25990" cy="2599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506" y="4490153"/>
            <a:ext cx="23719" cy="2371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62" y="510101"/>
            <a:ext cx="29421" cy="2942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3066" y="6165134"/>
            <a:ext cx="12552" cy="125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7391" y="1147107"/>
            <a:ext cx="22703" cy="227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307564" y="1498757"/>
            <a:ext cx="10065" cy="1006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85089" y="794773"/>
            <a:ext cx="26197" cy="2619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12849" y="6026175"/>
            <a:ext cx="14033" cy="140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871944" y="5305169"/>
            <a:ext cx="19430" cy="1943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16750" y="4076990"/>
            <a:ext cx="19776" cy="197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91740" y="2486502"/>
            <a:ext cx="25351" cy="2535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212848" y="5675416"/>
            <a:ext cx="11702" cy="1170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99588" y="2133999"/>
            <a:ext cx="14674" cy="1467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59670" y="784905"/>
            <a:ext cx="22419" cy="224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90625" y="5883093"/>
            <a:ext cx="25531" cy="2553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87776" y="2073210"/>
            <a:ext cx="26728" cy="26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040608" y="5995861"/>
            <a:ext cx="13527" cy="1352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127923" y="3716096"/>
            <a:ext cx="28081" cy="2808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801579" y="3737256"/>
            <a:ext cx="19730" cy="1973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2720" y="1683235"/>
            <a:ext cx="26951" cy="2695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18630" y="4297912"/>
            <a:ext cx="23534" cy="235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128463" y="3202886"/>
            <a:ext cx="28228" cy="282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93027" y="4203950"/>
            <a:ext cx="18841" cy="1884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415582" y="4540590"/>
            <a:ext cx="12665" cy="1266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863352" y="1218451"/>
            <a:ext cx="28038" cy="2803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72468" y="4257652"/>
            <a:ext cx="11869" cy="1186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90550" y="4486864"/>
            <a:ext cx="16533" cy="1653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45052" y="6510931"/>
            <a:ext cx="26595" cy="2659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622738" y="1086758"/>
            <a:ext cx="21683" cy="216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434732" y="5213807"/>
            <a:ext cx="29369" cy="2936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2743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JetBrains Mono"/>
              </a:rPr>
              <a:t>● PLANET B-612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778240" y="2743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0C0"/>
                </a:solidFill>
                <a:latin typeface="JetBrains Mono"/>
              </a:rPr>
              <a:t>THE EXPERIENCE</a:t>
            </a:r>
            <a:endParaRPr sz="10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Inter"/>
              </a:rPr>
              <a:t>FOUR SURFACES, ONE WORLD</a:t>
            </a:r>
            <a:endParaRPr sz="11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0080" y="11430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E6E9F5"/>
                </a:solidFill>
                <a:latin typeface="Inter"/>
              </a:rPr>
              <a:t>Tend a planet. </a:t>
            </a:r>
            <a:r>
              <a:rPr sz="3600" b="1">
                <a:solidFill>
                  <a:srgbClr val="00D4FF"/>
                </a:solidFill>
                <a:latin typeface="Inter"/>
              </a:rPr>
              <a:t>Read a journal.</a:t>
            </a:r>
            <a:r>
              <a:rPr sz="3600" b="1">
                <a:solidFill>
                  <a:srgbClr val="E6E9F5"/>
                </a:solidFill>
                <a:latin typeface="Inter"/>
              </a:rPr>
              <a:t> Share a card.</a:t>
            </a:r>
            <a:endParaRPr sz="3600" b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640080" y="256032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272491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Apple Color Emoji"/>
              </a:rPr>
              <a:t>🌍</a:t>
            </a:r>
            <a:endParaRPr sz="22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417320" y="2724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Inter"/>
              </a:rPr>
              <a:t>3D Planet</a:t>
            </a:r>
            <a:endParaRPr sz="15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914400" y="324612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6E9F5"/>
                </a:solidFill>
                <a:latin typeface="Inter"/>
              </a:rPr>
              <a:t>A trackball-rotatable low-poly sphere. Every photo adds a unique 3D model — building, tree, fox, fish — anchored to a meaningful surface spot. Hover to preview, drag to rearrange.</a:t>
            </a:r>
            <a:endParaRPr sz="10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14400" y="4069079"/>
            <a:ext cx="667512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4069079"/>
            <a:ext cx="667512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Three.js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1655064" y="4069079"/>
            <a:ext cx="1444752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655064" y="4069079"/>
            <a:ext cx="1444752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20 model templates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3172968" y="4069079"/>
            <a:ext cx="1677924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172968" y="4069079"/>
            <a:ext cx="167792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Non-overlap placement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309360" y="256032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0" y="272491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Apple Color Emoji"/>
              </a:rPr>
              <a:t>📷</a:t>
            </a:r>
            <a:endParaRPr sz="22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086600" y="2724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Inter"/>
              </a:rPr>
              <a:t>Capture Modal</a:t>
            </a:r>
            <a:endParaRPr sz="15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583680" y="324612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6E9F5"/>
                </a:solidFill>
                <a:latin typeface="Inter"/>
              </a:rPr>
              <a:t>One FAB at center-bottom — the only input. Pick a photo + 3 quick context chips (time / weather / company). A robust fallback lets you manually categorize if Vision fails.</a:t>
            </a:r>
            <a:endParaRPr sz="10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583680" y="4069079"/>
            <a:ext cx="900684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0" y="4069079"/>
            <a:ext cx="90068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Qwen-VL-Max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557516" y="4069079"/>
            <a:ext cx="1056132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57516" y="4069079"/>
            <a:ext cx="1056132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Fuzzy de-dupe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686800" y="4069079"/>
            <a:ext cx="1211580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0" y="4069079"/>
            <a:ext cx="12115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Cancel any time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640080" y="457200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4400" y="473659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Apple Color Emoji"/>
              </a:rPr>
              <a:t>🌱</a:t>
            </a:r>
            <a:endParaRPr sz="22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17320" y="473659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Inter"/>
              </a:rPr>
              <a:t>Codex Gallery</a:t>
            </a:r>
            <a:endParaRPr sz="15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14400" y="525780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6E9F5"/>
                </a:solidFill>
                <a:latin typeface="Inter"/>
              </a:rPr>
              <a:t>20 category tabs (Landmarks, Buildings, Sacred Sites, Cuisine, Wildlife…). Click a card → highlights its 3D twin on the planet. Hover the model → floating tooltip the other way.</a:t>
            </a:r>
            <a:endParaRPr sz="10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914400" y="6080759"/>
            <a:ext cx="1133856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4400" y="6080759"/>
            <a:ext cx="1133856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Tabbed Pokédex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121408" y="6080759"/>
            <a:ext cx="978408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21408" y="6080759"/>
            <a:ext cx="97840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Newest first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3172968" y="6080759"/>
            <a:ext cx="822960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72968" y="6080759"/>
            <a:ext cx="82296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Cross-link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309360" y="457200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83680" y="473659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Apple Color Emoji"/>
              </a:rPr>
              <a:t>🦊</a:t>
            </a:r>
            <a:endParaRPr sz="22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086600" y="473659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Inter"/>
              </a:rPr>
              <a:t>Fox Journal &amp; Share</a:t>
            </a:r>
            <a:endParaRPr sz="15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583680" y="525780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6E9F5"/>
                </a:solidFill>
                <a:latin typeface="Inter"/>
              </a:rPr>
              <a:t>The fox writes Tabikaeru-style diary entries about your finds and its own little planet life. One-tap "Share Today" exports a 1080×1350 card with planet ID, level, and the day’s discoveries.</a:t>
            </a:r>
            <a:endParaRPr sz="10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6583680" y="6080759"/>
            <a:ext cx="1133856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583680" y="6080759"/>
            <a:ext cx="1133856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Tabikaeru loop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7790688" y="6080759"/>
            <a:ext cx="1056132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790688" y="6080759"/>
            <a:ext cx="1056132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Canvas export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8919972" y="6080759"/>
            <a:ext cx="745236" cy="246888"/>
          </a:xfrm>
          <a:prstGeom prst="roundRect">
            <a:avLst>
              <a:gd name="adj" fmla="val 50000"/>
            </a:avLst>
          </a:prstGeom>
          <a:solidFill>
            <a:srgbClr val="062A3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19972" y="6080759"/>
            <a:ext cx="745236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  <a:latin typeface="Inter"/>
              </a:rPr>
              <a:t>Planet ID</a:t>
            </a:r>
            <a:endParaRPr sz="850" b="1" i="0">
              <a:solidFill>
                <a:srgbClr val="00D4FF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7594227" y="5087175"/>
            <a:ext cx="25903" cy="259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4705" y="198917"/>
            <a:ext cx="19312" cy="193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83504" y="776366"/>
            <a:ext cx="19381" cy="1938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997315" y="89937"/>
            <a:ext cx="14334" cy="1433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35491" y="1094565"/>
            <a:ext cx="25942" cy="2594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44678" y="12172"/>
            <a:ext cx="27428" cy="274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977378" y="5982972"/>
            <a:ext cx="15786" cy="1578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63902" y="1404377"/>
            <a:ext cx="28819" cy="288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96225" y="2049094"/>
            <a:ext cx="17223" cy="1722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4163" y="2066720"/>
            <a:ext cx="22062" cy="2206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19535" y="2125691"/>
            <a:ext cx="26370" cy="263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66867" y="4832620"/>
            <a:ext cx="11140" cy="111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1272" y="5794193"/>
            <a:ext cx="10361" cy="1036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125" y="62259"/>
            <a:ext cx="10934" cy="1093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95932" y="5182840"/>
            <a:ext cx="28593" cy="285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25530" y="3598405"/>
            <a:ext cx="25512" cy="2551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19544" y="5895783"/>
            <a:ext cx="10732" cy="107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54204" y="4189055"/>
            <a:ext cx="28361" cy="2836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46229" y="2142784"/>
            <a:ext cx="16335" cy="1633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4953" y="4726359"/>
            <a:ext cx="29934" cy="2993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029534" y="3658953"/>
            <a:ext cx="18117" cy="1811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73942" y="3124951"/>
            <a:ext cx="18435" cy="1843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8927" y="3384863"/>
            <a:ext cx="26768" cy="2676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79654" y="4323278"/>
            <a:ext cx="25760" cy="2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19553" y="5793185"/>
            <a:ext cx="15896" cy="158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90404" y="6693459"/>
            <a:ext cx="19070" cy="190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40339" y="1995833"/>
            <a:ext cx="18075" cy="1807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050121" y="6582417"/>
            <a:ext cx="22539" cy="2253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86736" y="1867502"/>
            <a:ext cx="25640" cy="25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82947" y="5314251"/>
            <a:ext cx="23891" cy="2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430849" y="4831252"/>
            <a:ext cx="15617" cy="1561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423034" y="2015237"/>
            <a:ext cx="28910" cy="289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1187" y="3751263"/>
            <a:ext cx="15013" cy="150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56709" y="4440122"/>
            <a:ext cx="25952" cy="2595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995366" y="5679717"/>
            <a:ext cx="17000" cy="17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91994" y="6694245"/>
            <a:ext cx="29130" cy="2913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25925" y="5737541"/>
            <a:ext cx="28747" cy="2874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74198" y="5008763"/>
            <a:ext cx="13436" cy="134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14258" y="2885791"/>
            <a:ext cx="22474" cy="2247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83073" y="189431"/>
            <a:ext cx="13200" cy="1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670446" y="4704294"/>
            <a:ext cx="22617" cy="2261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58280" y="371312"/>
            <a:ext cx="12670" cy="1267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357387" y="244539"/>
            <a:ext cx="19306" cy="1930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95104" y="1631150"/>
            <a:ext cx="28063" cy="2806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395729" y="2812070"/>
            <a:ext cx="12301" cy="123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39658" y="4207822"/>
            <a:ext cx="11896" cy="118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082109" y="6572024"/>
            <a:ext cx="26370" cy="263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830683" y="2533638"/>
            <a:ext cx="12842" cy="128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70043" y="6638522"/>
            <a:ext cx="22172" cy="2217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551" y="740103"/>
            <a:ext cx="21316" cy="213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74139" y="6112410"/>
            <a:ext cx="17516" cy="175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53813" y="6669093"/>
            <a:ext cx="17595" cy="1759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263933" y="1781877"/>
            <a:ext cx="29619" cy="296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91010" y="6750168"/>
            <a:ext cx="19835" cy="1983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85997" y="4263526"/>
            <a:ext cx="18869" cy="1886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80158" y="90548"/>
            <a:ext cx="20651" cy="2065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32774" y="1684737"/>
            <a:ext cx="15353" cy="1535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74461" y="4169921"/>
            <a:ext cx="19492" cy="194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064198" y="810471"/>
            <a:ext cx="25207" cy="25207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097892" y="2035606"/>
            <a:ext cx="20597" cy="2059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2743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JetBrains Mono"/>
              </a:rPr>
              <a:t>● PLANET B-612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778240" y="2743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0C0"/>
                </a:solidFill>
                <a:latin typeface="JetBrains Mono"/>
              </a:rPr>
              <a:t>ARCHITECTURE</a:t>
            </a:r>
            <a:endParaRPr sz="10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Inter"/>
              </a:rPr>
              <a:t>AGENT HIERARCHY &amp; FLOW</a:t>
            </a:r>
            <a:endParaRPr sz="11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0080" y="11430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E6E9F5"/>
                </a:solidFill>
                <a:latin typeface="Inter"/>
              </a:rPr>
              <a:t>One router. </a:t>
            </a:r>
            <a:r>
              <a:rPr sz="3600" b="1">
                <a:solidFill>
                  <a:srgbClr val="00D4FF"/>
                </a:solidFill>
                <a:latin typeface="Inter"/>
              </a:rPr>
              <a:t>Two pipelines.</a:t>
            </a:r>
            <a:r>
              <a:rPr sz="3600" b="1">
                <a:solidFill>
                  <a:srgbClr val="E6E9F5"/>
                </a:solidFill>
                <a:latin typeface="Inter"/>
              </a:rPr>
              <a:t> One autonomous fox.</a:t>
            </a:r>
            <a:endParaRPr sz="3600" b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0080" y="2194560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AA0C0"/>
                </a:solidFill>
                <a:latin typeface="Inter"/>
              </a:rPr>
              <a:t>A single Orchestrator sits between the user and every specialist. It dispatches each input into the right pipeline — identification or planning — while Fox Life runs in parallel as its own autonomous loop.</a:t>
            </a:r>
            <a:endParaRPr sz="120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520440" y="29260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0A1028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20440" y="29260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E6E9F5"/>
                </a:solidFill>
                <a:latin typeface="Inter"/>
              </a:rPr>
              <a:t>👤  User · text / photo / tap</a:t>
            </a:r>
            <a:endParaRPr sz="1100" b="1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520440" y="34290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00D4FF"/>
                </a:solidFill>
                <a:latin typeface="Inter"/>
              </a:rPr>
              <a:t>▼</a:t>
            </a:r>
            <a:endParaRPr sz="14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3337560" y="3703320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06334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93008" y="3813175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Inter"/>
              </a:rPr>
              <a:t>Orchestrator</a:t>
            </a:r>
            <a:endParaRPr sz="13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3493008" y="4116070"/>
            <a:ext cx="2194560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9AA0C0"/>
                </a:solidFill>
                <a:latin typeface="Inter"/>
              </a:rPr>
              <a:t>Classifies intent (message / photo / task / landmark) and dispatches to one pipeline. Owns shared planet context.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73736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D4FF"/>
                </a:solidFill>
                <a:latin typeface="Inter"/>
              </a:rPr>
              <a:t>▼</a:t>
            </a:r>
            <a:endParaRPr sz="13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43484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D4FF"/>
                </a:solidFill>
                <a:latin typeface="Inter"/>
              </a:rPr>
              <a:t>▼</a:t>
            </a:r>
            <a:endParaRPr sz="13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13232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D4FF"/>
                </a:solidFill>
                <a:latin typeface="Inter"/>
              </a:rPr>
              <a:t>▼</a:t>
            </a:r>
            <a:endParaRPr sz="1300" b="0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640080" y="4983480"/>
            <a:ext cx="2560320" cy="1051560"/>
          </a:xfrm>
          <a:prstGeom prst="roundRect">
            <a:avLst>
              <a:gd name="adj" fmla="val 6000"/>
            </a:avLst>
          </a:prstGeom>
          <a:solidFill>
            <a:srgbClr val="141B3D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113" y="5086985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Inter"/>
              </a:rPr>
              <a:t>Vision</a:t>
            </a:r>
            <a:r>
              <a:rPr sz="850" b="0" i="0">
                <a:solidFill>
                  <a:srgbClr val="9AA0C0"/>
                </a:solidFill>
                <a:latin typeface="Inter"/>
              </a:rPr>
              <a:t> · photo pipeline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49808" y="5361305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9AA0C0"/>
                </a:solidFill>
                <a:latin typeface="Inter"/>
              </a:rPr>
              <a:t>Qwen-VL-Max → 1 of 20 categories + structured details. Receives existing codex for de-dupe.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337560" y="4983480"/>
            <a:ext cx="2560320" cy="1051560"/>
          </a:xfrm>
          <a:prstGeom prst="roundRect">
            <a:avLst>
              <a:gd name="adj" fmla="val 6000"/>
            </a:avLst>
          </a:prstGeom>
          <a:solidFill>
            <a:srgbClr val="141B3D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53968" y="506603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Inter"/>
              </a:rPr>
              <a:t>Story</a:t>
            </a:r>
            <a:r>
              <a:rPr sz="850" b="0" i="0">
                <a:solidFill>
                  <a:srgbClr val="9AA0C0"/>
                </a:solidFill>
                <a:latin typeface="Inter"/>
              </a:rPr>
              <a:t> · enriches Vision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571113" y="544068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9AA0C0"/>
                </a:solidFill>
                <a:latin typeface="Inter"/>
              </a:rPr>
              <a:t>Called by Orchestrator after Vision succeeds. Generates deep cultural / historical Insight in the fox's voice.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6035040" y="4983480"/>
            <a:ext cx="2560320" cy="1051560"/>
          </a:xfrm>
          <a:prstGeom prst="roundRect">
            <a:avLst>
              <a:gd name="adj" fmla="val 6000"/>
            </a:avLst>
          </a:prstGeom>
          <a:solidFill>
            <a:srgbClr val="141B3D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36208" y="5039995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Inter"/>
              </a:rPr>
              <a:t>Planner</a:t>
            </a:r>
            <a:r>
              <a:rPr sz="850" b="0" i="0">
                <a:solidFill>
                  <a:srgbClr val="9AA0C0"/>
                </a:solidFill>
                <a:latin typeface="Inter"/>
              </a:rPr>
              <a:t> · text pipeline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6236208" y="544068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9AA0C0"/>
                </a:solidFill>
                <a:latin typeface="Inter"/>
              </a:rPr>
              <a:t>SG local-guide brain. Builds 30-90 min quests grounded in time, weather, festivals — asks Sponsor.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132320" y="600760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D166"/>
                </a:solidFill>
                <a:latin typeface="Inter"/>
              </a:rPr>
              <a:t>▼</a:t>
            </a:r>
            <a:endParaRPr sz="1100" b="0" i="0">
              <a:solidFill>
                <a:srgbClr val="FFD166"/>
              </a:solidFill>
              <a:latin typeface="Inter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6035040" y="6172200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2A210A"/>
          </a:solidFill>
          <a:ln w="952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90488" y="6190615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Inter"/>
              </a:rPr>
              <a:t>Sponsor</a:t>
            </a:r>
            <a:r>
              <a:rPr sz="850" b="0" i="0">
                <a:solidFill>
                  <a:srgbClr val="9AA0C0"/>
                </a:solidFill>
                <a:latin typeface="Inter"/>
              </a:rPr>
              <a:t> · sub-call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6190488" y="6399530"/>
            <a:ext cx="2194560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9AA0C0"/>
                </a:solidFill>
                <a:latin typeface="Inter"/>
              </a:rPr>
              <a:t>Planner injects clearly-badged sponsored quests when keywords match (SuperAI / Tiger / Mr. Coconut).</a:t>
            </a:r>
            <a:endParaRPr sz="85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9006840" y="2194560"/>
            <a:ext cx="2788920" cy="3931920"/>
          </a:xfrm>
          <a:prstGeom prst="roundRect">
            <a:avLst>
              <a:gd name="adj" fmla="val 4000"/>
            </a:avLst>
          </a:prstGeom>
          <a:solidFill>
            <a:srgbClr val="1F1809"/>
          </a:solidFill>
          <a:ln w="952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372600" y="205740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7091A"/>
          </a:solidFill>
          <a:ln w="952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372600" y="205740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D166"/>
                </a:solidFill>
                <a:latin typeface="JetBrains Mono"/>
              </a:rPr>
              <a:t>AUTONOMOUS LOOP</a:t>
            </a:r>
            <a:endParaRPr sz="800" b="1" i="0">
              <a:solidFill>
                <a:srgbClr val="FFD166"/>
              </a:solidFill>
              <a:latin typeface="JetBrains Mono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9235440" y="24231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pple Color Emoji"/>
              </a:rPr>
              <a:t>🦊</a:t>
            </a:r>
            <a:endParaRPr sz="2400" b="0" i="0">
              <a:solidFill>
                <a:srgbClr val="FFFFFF"/>
              </a:solidFill>
              <a:latin typeface="Apple Color Emoji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235440" y="28803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Inter"/>
              </a:rPr>
              <a:t>Fox Life</a:t>
            </a:r>
            <a:endParaRPr sz="1500" b="1" i="0">
              <a:solidFill>
                <a:srgbClr val="FFD166"/>
              </a:solidFill>
              <a:latin typeface="Inter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9235440" y="324612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0C0"/>
                </a:solidFill>
                <a:latin typeface="Inter"/>
              </a:rPr>
              <a:t>Runs in its own timer-driven loop, independent of the Orchestrator. Picks activities based on bond level + current planet state.</a:t>
            </a:r>
            <a:endParaRPr sz="1000" b="0" i="0">
              <a:solidFill>
                <a:srgbClr val="9AA0C0"/>
              </a:solidFill>
              <a:latin typeface="Inter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9235440" y="4389120"/>
            <a:ext cx="2331720" cy="1554480"/>
          </a:xfrm>
          <a:prstGeom prst="roundRect">
            <a:avLst>
              <a:gd name="adj" fmla="val 5000"/>
            </a:avLst>
          </a:prstGeom>
          <a:solidFill>
            <a:srgbClr val="050618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372600" y="4526280"/>
            <a:ext cx="214884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FFD166"/>
                </a:solidFill>
                <a:latin typeface="JetBrains Mono"/>
              </a:rPr>
              <a:t>every ~15 min  →</a:t>
            </a:r>
            <a:endParaRPr sz="900" b="1">
              <a:solidFill>
                <a:srgbClr val="FFD166"/>
              </a:solidFill>
              <a:latin typeface="JetBrains Mono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AA0C0"/>
                </a:solidFill>
                <a:latin typeface="JetBrains Mono"/>
              </a:rPr>
              <a:t>pick activity  →</a:t>
            </a:r>
            <a:endParaRPr sz="900" b="0">
              <a:solidFill>
                <a:srgbClr val="9AA0C0"/>
              </a:solidFill>
              <a:latin typeface="JetBrains Mono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AA0C0"/>
                </a:solidFill>
                <a:latin typeface="JetBrains Mono"/>
              </a:rPr>
              <a:t>write 60–110 word diary  →</a:t>
            </a:r>
            <a:endParaRPr sz="900" b="0">
              <a:solidFill>
                <a:srgbClr val="9AA0C0"/>
              </a:solidFill>
              <a:latin typeface="JetBrains Mono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AA0C0"/>
                </a:solidFill>
                <a:latin typeface="JetBrains Mono"/>
              </a:rPr>
              <a:t>sometimes return with keepsake  →</a:t>
            </a:r>
            <a:endParaRPr sz="900" b="0">
              <a:solidFill>
                <a:srgbClr val="9AA0C0"/>
              </a:solidFill>
              <a:latin typeface="JetBrains Mono"/>
            </a:endParaRP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AA0C0"/>
                </a:solidFill>
                <a:latin typeface="JetBrains Mono"/>
              </a:rPr>
              <a:t>write back to planet context</a:t>
            </a:r>
            <a:endParaRPr sz="900" b="0">
              <a:solidFill>
                <a:srgbClr val="9AA0C0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3948070" y="1034523"/>
            <a:ext cx="23018" cy="2301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458367" y="397756"/>
            <a:ext cx="20148" cy="2014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1656" y="622109"/>
            <a:ext cx="18490" cy="1849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21661" y="4302937"/>
            <a:ext cx="28954" cy="2895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902204" y="319464"/>
            <a:ext cx="27169" cy="2716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36087" y="2115568"/>
            <a:ext cx="26322" cy="2632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89438" y="2553902"/>
            <a:ext cx="20954" cy="2095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10985" y="4666183"/>
            <a:ext cx="18551" cy="1855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25085" y="2055802"/>
            <a:ext cx="25887" cy="2588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3198" y="3601797"/>
            <a:ext cx="27502" cy="2750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949992" y="809695"/>
            <a:ext cx="18362" cy="183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61288" y="268883"/>
            <a:ext cx="23364" cy="233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73558" y="2151680"/>
            <a:ext cx="23905" cy="2390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61916" y="5760499"/>
            <a:ext cx="28893" cy="288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9663" y="4810832"/>
            <a:ext cx="22942" cy="229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69701" y="2645757"/>
            <a:ext cx="23373" cy="2337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48794" y="803042"/>
            <a:ext cx="11179" cy="111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18844" y="2681133"/>
            <a:ext cx="27428" cy="274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98603" y="6058246"/>
            <a:ext cx="26385" cy="263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63168" y="2460452"/>
            <a:ext cx="27683" cy="276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48392" y="1590760"/>
            <a:ext cx="14666" cy="1466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203326" y="28073"/>
            <a:ext cx="18378" cy="1837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619879" y="4735405"/>
            <a:ext cx="20309" cy="203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264" y="6168997"/>
            <a:ext cx="25599" cy="255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83763" y="2736196"/>
            <a:ext cx="12070" cy="120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081" y="1431697"/>
            <a:ext cx="13246" cy="13246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844" y="1037374"/>
            <a:ext cx="12029" cy="1202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59593" y="4211285"/>
            <a:ext cx="12971" cy="1297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39769" y="842452"/>
            <a:ext cx="26978" cy="269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98764" y="588997"/>
            <a:ext cx="12043" cy="1204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05151" y="1107145"/>
            <a:ext cx="10461" cy="1046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787333" y="3725076"/>
            <a:ext cx="10540" cy="105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25395" y="4774517"/>
            <a:ext cx="15222" cy="1522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411231" y="3652518"/>
            <a:ext cx="25581" cy="25581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893697" y="6754622"/>
            <a:ext cx="27052" cy="270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020306" y="1554979"/>
            <a:ext cx="20352" cy="2035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40600" y="1916252"/>
            <a:ext cx="15183" cy="151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452463" y="6426091"/>
            <a:ext cx="29760" cy="29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87809" y="1555708"/>
            <a:ext cx="13934" cy="1393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76284" y="5763706"/>
            <a:ext cx="19589" cy="1958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3593" y="4530296"/>
            <a:ext cx="28195" cy="2819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28029" y="1224301"/>
            <a:ext cx="25782" cy="2578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46149" y="2714660"/>
            <a:ext cx="18027" cy="180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072632" y="871229"/>
            <a:ext cx="13023" cy="130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2112" y="5668208"/>
            <a:ext cx="29606" cy="2960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689095" y="898287"/>
            <a:ext cx="10284" cy="102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19915" y="6402798"/>
            <a:ext cx="18676" cy="186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572963" y="1727083"/>
            <a:ext cx="15859" cy="15859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162096" y="2873588"/>
            <a:ext cx="12621" cy="1262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85759" y="4000605"/>
            <a:ext cx="28085" cy="280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115950" y="3647255"/>
            <a:ext cx="20470" cy="2047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232395" y="26968"/>
            <a:ext cx="25983" cy="25983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841335" y="3816309"/>
            <a:ext cx="16519" cy="165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561610" y="727698"/>
            <a:ext cx="21205" cy="21205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15171" y="3481902"/>
            <a:ext cx="21234" cy="212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403949" y="4200716"/>
            <a:ext cx="20111" cy="201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514861" y="3657271"/>
            <a:ext cx="19560" cy="195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686453" y="6461474"/>
            <a:ext cx="15191" cy="151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241021" y="940467"/>
            <a:ext cx="12432" cy="12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933794" y="501462"/>
            <a:ext cx="23389" cy="2338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2743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JetBrains Mono"/>
              </a:rPr>
              <a:t>● PLANET B-612</a:t>
            </a:r>
            <a:endParaRPr sz="1000" b="1" i="0">
              <a:solidFill>
                <a:srgbClr val="00D4FF"/>
              </a:solidFill>
              <a:latin typeface="JetBrains Mono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778240" y="2743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0C0"/>
                </a:solidFill>
                <a:latin typeface="JetBrains Mono"/>
              </a:rPr>
              <a:t>WHAT'S NEXT</a:t>
            </a:r>
            <a:endParaRPr sz="1000" b="0" i="0">
              <a:solidFill>
                <a:srgbClr val="9AA0C0"/>
              </a:solidFill>
              <a:latin typeface="JetBrains Mono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Inter"/>
              </a:rPr>
              <a:t>ROADMAP</a:t>
            </a:r>
            <a:endParaRPr sz="11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0080" y="11430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E6E9F5"/>
                </a:solidFill>
                <a:latin typeface="Inter"/>
              </a:rPr>
              <a:t>From </a:t>
            </a:r>
            <a:r>
              <a:rPr sz="3600" b="1">
                <a:solidFill>
                  <a:srgbClr val="00D4FF"/>
                </a:solidFill>
                <a:latin typeface="Inter"/>
              </a:rPr>
              <a:t>Singapore-day-one</a:t>
            </a:r>
            <a:r>
              <a:rPr sz="3600" b="1">
                <a:solidFill>
                  <a:srgbClr val="E6E9F5"/>
                </a:solidFill>
                <a:latin typeface="Inter"/>
              </a:rPr>
              <a:t> to your every trip.</a:t>
            </a:r>
            <a:endParaRPr sz="3600" b="1">
              <a:solidFill>
                <a:srgbClr val="E6E9F5"/>
              </a:solidFill>
              <a:latin typeface="Inter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640080" y="2743200"/>
            <a:ext cx="3657600" cy="2194560"/>
          </a:xfrm>
          <a:prstGeom prst="roundRect">
            <a:avLst>
              <a:gd name="adj" fmla="val 4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05840" y="2468880"/>
            <a:ext cx="640080" cy="64008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709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24688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  <a:latin typeface="Inter"/>
              </a:rPr>
              <a:t>1</a:t>
            </a:r>
            <a:endParaRPr sz="2000" b="1" i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Multi-city</a:t>
            </a:r>
            <a:endParaRPr sz="18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005840" y="370332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E6E9F5"/>
                </a:solidFill>
                <a:latin typeface="Inter"/>
              </a:rPr>
              <a:t>Lift the Singapore-only knowledge to a generic local-guide template. Activate per detected city: Tokyo, Bangkok, Bali, Lisbon.</a:t>
            </a:r>
            <a:endParaRPr sz="12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480560" y="2743200"/>
            <a:ext cx="3657600" cy="2194560"/>
          </a:xfrm>
          <a:prstGeom prst="roundRect">
            <a:avLst>
              <a:gd name="adj" fmla="val 4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846320" y="2468880"/>
            <a:ext cx="640080" cy="64008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709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46320" y="24688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  <a:latin typeface="Inter"/>
              </a:rPr>
              <a:t>2</a:t>
            </a:r>
            <a:endParaRPr sz="2000" b="1" i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Multiplayer planets</a:t>
            </a:r>
            <a:endParaRPr sz="18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846320" y="370332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E6E9F5"/>
                </a:solidFill>
                <a:latin typeface="Inter"/>
              </a:rPr>
              <a:t>Share your planet via planet ID. Friends can "visit" — leave footprints, swap species, even gift a model from their travels.</a:t>
            </a:r>
            <a:endParaRPr sz="12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321040" y="2743200"/>
            <a:ext cx="3657600" cy="2194560"/>
          </a:xfrm>
          <a:prstGeom prst="roundRect">
            <a:avLst>
              <a:gd name="adj" fmla="val 4000"/>
            </a:avLst>
          </a:prstGeom>
          <a:solidFill>
            <a:srgbClr val="121632"/>
          </a:solidFill>
          <a:ln w="9525">
            <a:solidFill>
              <a:srgbClr val="353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686800" y="2468880"/>
            <a:ext cx="640080" cy="64008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709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24688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  <a:latin typeface="Inter"/>
              </a:rPr>
              <a:t>3</a:t>
            </a:r>
            <a:endParaRPr sz="2000" b="1" i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8686800" y="329184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Real-world rewards</a:t>
            </a:r>
            <a:endParaRPr sz="1800" b="1" i="0">
              <a:solidFill>
                <a:srgbClr val="00D4FF"/>
              </a:solidFill>
              <a:latin typeface="Inter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686800" y="370332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E6E9F5"/>
                </a:solidFill>
                <a:latin typeface="Inter"/>
              </a:rPr>
              <a:t>Sponsored quests verified by photo → unlock real coupons. Already wired with SuperAI 2026, Tiger, Mr. Coconut. Scale via brand partnerships.</a:t>
            </a:r>
            <a:endParaRPr sz="1250" b="0" i="0">
              <a:solidFill>
                <a:srgbClr val="E6E9F5"/>
              </a:solidFill>
              <a:latin typeface="Inter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Inter"/>
              </a:rPr>
              <a:t>🦊  Thank you</a:t>
            </a:r>
            <a:endParaRPr sz="2800" b="1" i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40080" y="6035040"/>
            <a:ext cx="1097280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9AA0C0"/>
                </a:solidFill>
                <a:latin typeface="JetBrains Mono"/>
              </a:rPr>
              <a:t> github.com/zhsg2024-hub/AI-Planet-B612</a:t>
            </a:r>
            <a:endParaRPr sz="1200" b="0" i="1">
              <a:solidFill>
                <a:srgbClr val="9AA0C0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4120</Words>
  <Application>WPS Presentation</Application>
  <PresentationFormat>On-screen Show (4:3)</PresentationFormat>
  <Paragraphs>226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3" baseType="lpstr">
      <vt:lpstr>Arial</vt:lpstr>
      <vt:lpstr>SimSun</vt:lpstr>
      <vt:lpstr>Wingdings</vt:lpstr>
      <vt:lpstr>Arial</vt:lpstr>
      <vt:lpstr>JetBrains Mono</vt:lpstr>
      <vt:lpstr>Thonburi</vt:lpstr>
      <vt:lpstr>Apple Color Emoji</vt:lpstr>
      <vt:lpstr>Inter</vt:lpstr>
      <vt:lpstr>Calibri</vt:lpstr>
      <vt:lpstr>Helvetica Neue</vt:lpstr>
      <vt:lpstr>宋体-简</vt:lpstr>
      <vt:lpstr>Arial Unicode MS</vt:lpstr>
      <vt:lpstr>Microsoft YaHei</vt:lpstr>
      <vt:lpstr>汉仪旗黑</vt:lpstr>
      <vt:lpstr>Apple Color Emoji</vt:lpstr>
      <vt:lpstr>SimSun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AnIcepIg Zhu</cp:lastModifiedBy>
  <cp:revision>4</cp:revision>
  <dcterms:created xsi:type="dcterms:W3CDTF">2026-06-10T12:59:25Z</dcterms:created>
  <dcterms:modified xsi:type="dcterms:W3CDTF">2026-06-10T12:59:25Z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BEB5744DB70E42BE345F296A5C6F74F6_42</vt:lpwstr>
  </property>
  <property fmtid="{D5CDD505-2E9C-101B-9397-08002B2CF9AE}" pid="3" name="KSOProductBuildVer">
    <vt:lpwstr>1033-6.10.0.8196</vt:lpwstr>
  </property>
</Properties>
</file>